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Nourd" pitchFamily="2" charset="77"/>
      <p:regular r:id="rId21"/>
    </p:embeddedFont>
    <p:embeddedFont>
      <p:font typeface="Nourd Bold" pitchFamily="2" charset="77"/>
      <p:regular r:id="rId22"/>
      <p:bold r:id="rId23"/>
    </p:embeddedFont>
    <p:embeddedFont>
      <p:font typeface="Nourd Medium" pitchFamily="2" charset="77"/>
      <p:regular r:id="rId24"/>
    </p:embeddedFont>
    <p:embeddedFont>
      <p:font typeface="Nourd Semi-Bold" pitchFamily="2" charset="7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 autoAdjust="0"/>
    <p:restoredTop sz="94609" autoAdjust="0"/>
  </p:normalViewPr>
  <p:slideViewPr>
    <p:cSldViewPr>
      <p:cViewPr varScale="1">
        <p:scale>
          <a:sx n="101" d="100"/>
          <a:sy n="101" d="100"/>
        </p:scale>
        <p:origin x="90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10.svg"/><Relationship Id="rId5" Type="http://schemas.openxmlformats.org/officeDocument/2006/relationships/image" Target="../media/image16.svg"/><Relationship Id="rId10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42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svg"/><Relationship Id="rId7" Type="http://schemas.openxmlformats.org/officeDocument/2006/relationships/image" Target="../media/image40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3.svg"/><Relationship Id="rId5" Type="http://schemas.openxmlformats.org/officeDocument/2006/relationships/image" Target="../media/image16.svg"/><Relationship Id="rId10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4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8.svg"/><Relationship Id="rId7" Type="http://schemas.openxmlformats.org/officeDocument/2006/relationships/image" Target="../media/image10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eg"/><Relationship Id="rId3" Type="http://schemas.openxmlformats.org/officeDocument/2006/relationships/image" Target="../media/image44.jpeg"/><Relationship Id="rId7" Type="http://schemas.openxmlformats.org/officeDocument/2006/relationships/image" Target="../media/image46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3.svg"/><Relationship Id="rId10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5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0.png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93529" y="1028700"/>
            <a:ext cx="8294471" cy="8229600"/>
          </a:xfrm>
          <a:custGeom>
            <a:avLst/>
            <a:gdLst/>
            <a:ahLst/>
            <a:cxnLst/>
            <a:rect l="l" t="t" r="r" b="b"/>
            <a:pathLst>
              <a:path w="8294471" h="8229600">
                <a:moveTo>
                  <a:pt x="0" y="0"/>
                </a:moveTo>
                <a:lnTo>
                  <a:pt x="8294471" y="0"/>
                </a:lnTo>
                <a:lnTo>
                  <a:pt x="82944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73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2954074" y="7284853"/>
            <a:ext cx="3167377" cy="593883"/>
          </a:xfrm>
          <a:custGeom>
            <a:avLst/>
            <a:gdLst/>
            <a:ahLst/>
            <a:cxnLst/>
            <a:rect l="l" t="t" r="r" b="b"/>
            <a:pathLst>
              <a:path w="3167377" h="593883">
                <a:moveTo>
                  <a:pt x="0" y="0"/>
                </a:moveTo>
                <a:lnTo>
                  <a:pt x="3167378" y="0"/>
                </a:lnTo>
                <a:lnTo>
                  <a:pt x="3167378" y="593883"/>
                </a:lnTo>
                <a:lnTo>
                  <a:pt x="0" y="5938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103588" y="2572743"/>
            <a:ext cx="5477489" cy="2732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2"/>
              </a:lnSpc>
            </a:pPr>
            <a:r>
              <a:rPr lang="en-US" sz="10512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Plan de Projet</a:t>
            </a:r>
          </a:p>
        </p:txBody>
      </p:sp>
      <p:sp>
        <p:nvSpPr>
          <p:cNvPr id="5" name="Freeform 5"/>
          <p:cNvSpPr/>
          <p:nvPr/>
        </p:nvSpPr>
        <p:spPr>
          <a:xfrm rot="8473615">
            <a:off x="6422234" y="2232393"/>
            <a:ext cx="538725" cy="1089334"/>
          </a:xfrm>
          <a:custGeom>
            <a:avLst/>
            <a:gdLst/>
            <a:ahLst/>
            <a:cxnLst/>
            <a:rect l="l" t="t" r="r" b="b"/>
            <a:pathLst>
              <a:path w="538725" h="1089334">
                <a:moveTo>
                  <a:pt x="0" y="0"/>
                </a:moveTo>
                <a:lnTo>
                  <a:pt x="538725" y="0"/>
                </a:lnTo>
                <a:lnTo>
                  <a:pt x="538725" y="1089334"/>
                </a:lnTo>
                <a:lnTo>
                  <a:pt x="0" y="10893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3842333" y="9037813"/>
            <a:ext cx="1249187" cy="1249187"/>
          </a:xfrm>
          <a:custGeom>
            <a:avLst/>
            <a:gdLst/>
            <a:ahLst/>
            <a:cxnLst/>
            <a:rect l="l" t="t" r="r" b="b"/>
            <a:pathLst>
              <a:path w="1249187" h="1249187">
                <a:moveTo>
                  <a:pt x="0" y="0"/>
                </a:moveTo>
                <a:lnTo>
                  <a:pt x="1249187" y="0"/>
                </a:lnTo>
                <a:lnTo>
                  <a:pt x="1249187" y="1249187"/>
                </a:lnTo>
                <a:lnTo>
                  <a:pt x="0" y="1249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5694011" y="9037813"/>
            <a:ext cx="1995171" cy="974653"/>
          </a:xfrm>
          <a:custGeom>
            <a:avLst/>
            <a:gdLst/>
            <a:ahLst/>
            <a:cxnLst/>
            <a:rect l="l" t="t" r="r" b="b"/>
            <a:pathLst>
              <a:path w="1995171" h="974653">
                <a:moveTo>
                  <a:pt x="0" y="0"/>
                </a:moveTo>
                <a:lnTo>
                  <a:pt x="1995171" y="0"/>
                </a:lnTo>
                <a:lnTo>
                  <a:pt x="1995171" y="974653"/>
                </a:lnTo>
                <a:lnTo>
                  <a:pt x="0" y="974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51194" y="9105029"/>
            <a:ext cx="3258063" cy="1009361"/>
          </a:xfrm>
          <a:custGeom>
            <a:avLst/>
            <a:gdLst/>
            <a:ahLst/>
            <a:cxnLst/>
            <a:rect l="l" t="t" r="r" b="b"/>
            <a:pathLst>
              <a:path w="3258063" h="1009361">
                <a:moveTo>
                  <a:pt x="0" y="0"/>
                </a:moveTo>
                <a:lnTo>
                  <a:pt x="3258063" y="0"/>
                </a:lnTo>
                <a:lnTo>
                  <a:pt x="3258063" y="1009361"/>
                </a:lnTo>
                <a:lnTo>
                  <a:pt x="0" y="10093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103588" y="5790700"/>
            <a:ext cx="7496187" cy="2033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0"/>
              </a:lnSpc>
            </a:pPr>
            <a:r>
              <a:rPr lang="en-US" sz="3878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Prévision des flux de clients pour l’implantation d’une nouvelle boulangerie à Niort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2488" y="1190745"/>
            <a:ext cx="6894698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ELLIOT F. JULES D. LOLA D. RÉMI P. QUENTIN 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1584758" y="-216460"/>
            <a:ext cx="3720506" cy="3950344"/>
          </a:xfrm>
          <a:custGeom>
            <a:avLst/>
            <a:gdLst/>
            <a:ahLst/>
            <a:cxnLst/>
            <a:rect l="l" t="t" r="r" b="b"/>
            <a:pathLst>
              <a:path w="3720506" h="3950344">
                <a:moveTo>
                  <a:pt x="0" y="0"/>
                </a:moveTo>
                <a:lnTo>
                  <a:pt x="3720506" y="0"/>
                </a:lnTo>
                <a:lnTo>
                  <a:pt x="3720506" y="3950344"/>
                </a:lnTo>
                <a:lnTo>
                  <a:pt x="0" y="3950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804253" y="4991836"/>
            <a:ext cx="449753" cy="666750"/>
          </a:xfrm>
          <a:custGeom>
            <a:avLst/>
            <a:gdLst/>
            <a:ahLst/>
            <a:cxnLst/>
            <a:rect l="l" t="t" r="r" b="b"/>
            <a:pathLst>
              <a:path w="449753" h="666750">
                <a:moveTo>
                  <a:pt x="0" y="0"/>
                </a:moveTo>
                <a:lnTo>
                  <a:pt x="449753" y="0"/>
                </a:lnTo>
                <a:lnTo>
                  <a:pt x="449753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1680021" y="7747762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0501642" y="4968149"/>
            <a:ext cx="510453" cy="714375"/>
          </a:xfrm>
          <a:custGeom>
            <a:avLst/>
            <a:gdLst/>
            <a:ahLst/>
            <a:cxnLst/>
            <a:rect l="l" t="t" r="r" b="b"/>
            <a:pathLst>
              <a:path w="510453" h="714375">
                <a:moveTo>
                  <a:pt x="0" y="0"/>
                </a:moveTo>
                <a:lnTo>
                  <a:pt x="510453" y="0"/>
                </a:lnTo>
                <a:lnTo>
                  <a:pt x="510453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10443496" y="6366762"/>
            <a:ext cx="626745" cy="666750"/>
          </a:xfrm>
          <a:custGeom>
            <a:avLst/>
            <a:gdLst/>
            <a:ahLst/>
            <a:cxnLst/>
            <a:rect l="l" t="t" r="r" b="b"/>
            <a:pathLst>
              <a:path w="626745" h="666750">
                <a:moveTo>
                  <a:pt x="0" y="0"/>
                </a:moveTo>
                <a:lnTo>
                  <a:pt x="626745" y="0"/>
                </a:lnTo>
                <a:lnTo>
                  <a:pt x="62674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Freeform 7"/>
          <p:cNvSpPr/>
          <p:nvPr/>
        </p:nvSpPr>
        <p:spPr>
          <a:xfrm>
            <a:off x="10422277" y="3658423"/>
            <a:ext cx="669183" cy="666750"/>
          </a:xfrm>
          <a:custGeom>
            <a:avLst/>
            <a:gdLst/>
            <a:ahLst/>
            <a:cxnLst/>
            <a:rect l="l" t="t" r="r" b="b"/>
            <a:pathLst>
              <a:path w="669183" h="666750">
                <a:moveTo>
                  <a:pt x="0" y="0"/>
                </a:moveTo>
                <a:lnTo>
                  <a:pt x="669183" y="0"/>
                </a:lnTo>
                <a:lnTo>
                  <a:pt x="669183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>
            <a:off x="1667832" y="3753673"/>
            <a:ext cx="691128" cy="476250"/>
          </a:xfrm>
          <a:custGeom>
            <a:avLst/>
            <a:gdLst/>
            <a:ahLst/>
            <a:cxnLst/>
            <a:rect l="l" t="t" r="r" b="b"/>
            <a:pathLst>
              <a:path w="691128" h="476250">
                <a:moveTo>
                  <a:pt x="0" y="0"/>
                </a:moveTo>
                <a:lnTo>
                  <a:pt x="691128" y="0"/>
                </a:lnTo>
                <a:lnTo>
                  <a:pt x="691128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636297" y="6414262"/>
            <a:ext cx="785665" cy="571500"/>
          </a:xfrm>
          <a:custGeom>
            <a:avLst/>
            <a:gdLst/>
            <a:ahLst/>
            <a:cxnLst/>
            <a:rect l="l" t="t" r="r" b="b"/>
            <a:pathLst>
              <a:path w="785665" h="571500">
                <a:moveTo>
                  <a:pt x="0" y="0"/>
                </a:moveTo>
                <a:lnTo>
                  <a:pt x="785665" y="0"/>
                </a:lnTo>
                <a:lnTo>
                  <a:pt x="78566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1299521" y="-338383"/>
            <a:ext cx="4568306" cy="4568306"/>
          </a:xfrm>
          <a:custGeom>
            <a:avLst/>
            <a:gdLst/>
            <a:ahLst/>
            <a:cxnLst/>
            <a:rect l="l" t="t" r="r" b="b"/>
            <a:pathLst>
              <a:path w="4568306" h="4568306">
                <a:moveTo>
                  <a:pt x="0" y="0"/>
                </a:moveTo>
                <a:lnTo>
                  <a:pt x="4568306" y="0"/>
                </a:lnTo>
                <a:lnTo>
                  <a:pt x="4568306" y="4568306"/>
                </a:lnTo>
                <a:lnTo>
                  <a:pt x="0" y="45683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028700" y="962025"/>
            <a:ext cx="1273487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Sommaire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30734" y="3686998"/>
            <a:ext cx="5763650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Introduction : contexte </a:t>
            </a:r>
            <a:r>
              <a:rPr lang="en-US" sz="2747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et objectifs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30734" y="6436474"/>
            <a:ext cx="5073184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Maît</a:t>
            </a:r>
            <a:r>
              <a:rPr lang="en-US" sz="2747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rise du périmètre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30734" y="7811275"/>
            <a:ext cx="5073184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Respect </a:t>
            </a:r>
            <a:r>
              <a:rPr lang="en-US" sz="2747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de la qualité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30734" y="5061673"/>
            <a:ext cx="5073184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G</a:t>
            </a:r>
            <a:r>
              <a:rPr lang="en-US" sz="2747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estion du planning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3638" y="5061799"/>
            <a:ext cx="5073184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Organisation des équipes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3638" y="6436600"/>
            <a:ext cx="5224223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Con</a:t>
            </a:r>
            <a:r>
              <a:rPr lang="en-US" sz="2747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clusion &amp; livrables attendus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33638" y="3686998"/>
            <a:ext cx="5073184" cy="469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Analyse des risques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751911" y="2756136"/>
            <a:ext cx="8536089" cy="7530864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028700" y="5994422"/>
            <a:ext cx="3733584" cy="700047"/>
          </a:xfrm>
          <a:custGeom>
            <a:avLst/>
            <a:gdLst/>
            <a:ahLst/>
            <a:cxnLst/>
            <a:rect l="l" t="t" r="r" b="b"/>
            <a:pathLst>
              <a:path w="3733584" h="700047">
                <a:moveTo>
                  <a:pt x="0" y="0"/>
                </a:moveTo>
                <a:lnTo>
                  <a:pt x="3733584" y="0"/>
                </a:lnTo>
                <a:lnTo>
                  <a:pt x="3733584" y="700047"/>
                </a:lnTo>
                <a:lnTo>
                  <a:pt x="0" y="700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2825414">
            <a:off x="1773944" y="-738058"/>
            <a:ext cx="4711897" cy="5002979"/>
          </a:xfrm>
          <a:custGeom>
            <a:avLst/>
            <a:gdLst/>
            <a:ahLst/>
            <a:cxnLst/>
            <a:rect l="l" t="t" r="r" b="b"/>
            <a:pathLst>
              <a:path w="4711897" h="5002979">
                <a:moveTo>
                  <a:pt x="0" y="0"/>
                </a:moveTo>
                <a:lnTo>
                  <a:pt x="4711897" y="0"/>
                </a:lnTo>
                <a:lnTo>
                  <a:pt x="4711897" y="5002979"/>
                </a:lnTo>
                <a:lnTo>
                  <a:pt x="0" y="5002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693379" y="6155127"/>
            <a:ext cx="24042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OBJECTIFS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294159"/>
            <a:ext cx="472914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Listez l'objectif ici. 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Listez l'objectif ici. 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Listez l'objectif ici.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62025"/>
            <a:ext cx="1273487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41339" y="4533881"/>
            <a:ext cx="7757233" cy="4149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474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Car</a:t>
            </a: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te des zones les plus favorables</a:t>
            </a:r>
          </a:p>
          <a:p>
            <a:pPr marL="539748" lvl="1" indent="-269874" algn="l">
              <a:lnSpc>
                <a:spcPts val="474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Analyse démographique et concurrentielle des quartiers ciblés</a:t>
            </a:r>
          </a:p>
          <a:p>
            <a:pPr marL="539748" lvl="1" indent="-269874" algn="l">
              <a:lnSpc>
                <a:spcPts val="474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Prévision des flux de clients selon proximité et attractivité</a:t>
            </a:r>
          </a:p>
          <a:p>
            <a:pPr marL="539748" lvl="1" indent="-269874" algn="l">
              <a:lnSpc>
                <a:spcPts val="4749"/>
              </a:lnSpc>
              <a:buFont typeface="Arial"/>
              <a:buChar char="•"/>
            </a:pPr>
            <a:r>
              <a:rPr lang="en-US" sz="24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Rapport et présentation finale pour finaliser la décision stratégique</a:t>
            </a:r>
          </a:p>
        </p:txBody>
      </p:sp>
      <p:sp>
        <p:nvSpPr>
          <p:cNvPr id="9" name="AutoShape 9"/>
          <p:cNvSpPr/>
          <p:nvPr/>
        </p:nvSpPr>
        <p:spPr>
          <a:xfrm>
            <a:off x="1028700" y="3633569"/>
            <a:ext cx="7638222" cy="5624731"/>
          </a:xfrm>
          <a:prstGeom prst="rect">
            <a:avLst/>
          </a:prstGeom>
          <a:solidFill>
            <a:srgbClr val="F4F4F4"/>
          </a:solidFill>
        </p:spPr>
        <p:txBody>
          <a:bodyPr/>
          <a:lstStyle/>
          <a:p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1519336" y="5188498"/>
            <a:ext cx="6656950" cy="277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Ou</a:t>
            </a:r>
            <a:r>
              <a:rPr lang="en-US" sz="22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verture d’une nouvelle boulangerie à </a:t>
            </a:r>
            <a:r>
              <a:rPr lang="en-US" sz="2299" b="1" u="non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Niort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2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Ville en forte expansion démographique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2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Choix d’implantation crucial pour assurer la rentabilité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2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Délai : </a:t>
            </a:r>
            <a:r>
              <a:rPr lang="en-US" sz="2299" b="1" u="non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3 mois</a:t>
            </a:r>
            <a:r>
              <a:rPr lang="en-US" sz="22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pour livrer les résultats d’analyse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92965" y="4257656"/>
            <a:ext cx="2109691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CONTEXTE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9743" y="3409731"/>
            <a:ext cx="4460426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RÉSULTATS ATTENDUS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2064" y="538714"/>
            <a:ext cx="16230600" cy="113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00"/>
              </a:lnSpc>
            </a:pPr>
            <a:r>
              <a:rPr lang="en-US" sz="70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Planning : Diagramme de gantt</a:t>
            </a:r>
          </a:p>
        </p:txBody>
      </p:sp>
      <p:sp>
        <p:nvSpPr>
          <p:cNvPr id="3" name="Freeform 3"/>
          <p:cNvSpPr/>
          <p:nvPr/>
        </p:nvSpPr>
        <p:spPr>
          <a:xfrm rot="1612977">
            <a:off x="428524" y="233487"/>
            <a:ext cx="441071" cy="891872"/>
          </a:xfrm>
          <a:custGeom>
            <a:avLst/>
            <a:gdLst/>
            <a:ahLst/>
            <a:cxnLst/>
            <a:rect l="l" t="t" r="r" b="b"/>
            <a:pathLst>
              <a:path w="441071" h="891872">
                <a:moveTo>
                  <a:pt x="0" y="0"/>
                </a:moveTo>
                <a:lnTo>
                  <a:pt x="441071" y="0"/>
                </a:lnTo>
                <a:lnTo>
                  <a:pt x="441071" y="891872"/>
                </a:lnTo>
                <a:lnTo>
                  <a:pt x="0" y="89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flipV="1">
            <a:off x="3095219" y="2792595"/>
            <a:ext cx="14687451" cy="9871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/>
          <p:nvPr/>
        </p:nvSpPr>
        <p:spPr>
          <a:xfrm flipV="1">
            <a:off x="3095225" y="3371413"/>
            <a:ext cx="14687432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 flipV="1">
            <a:off x="3095225" y="3965791"/>
            <a:ext cx="14687432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3095225" y="4546877"/>
            <a:ext cx="14687432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 flipV="1">
            <a:off x="3095225" y="5154546"/>
            <a:ext cx="14687432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flipV="1">
            <a:off x="3095225" y="5749146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 flipV="1">
            <a:off x="3095225" y="6330233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V="1">
            <a:off x="3095225" y="6911319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" name="AutoShape 12"/>
          <p:cNvSpPr/>
          <p:nvPr/>
        </p:nvSpPr>
        <p:spPr>
          <a:xfrm flipV="1">
            <a:off x="3095225" y="7532057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" name="AutoShape 13"/>
          <p:cNvSpPr/>
          <p:nvPr/>
        </p:nvSpPr>
        <p:spPr>
          <a:xfrm flipV="1">
            <a:off x="3095225" y="8126435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" name="AutoShape 14"/>
          <p:cNvSpPr/>
          <p:nvPr/>
        </p:nvSpPr>
        <p:spPr>
          <a:xfrm flipV="1">
            <a:off x="3095225" y="8721035"/>
            <a:ext cx="14687410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AutoShape 15"/>
          <p:cNvSpPr/>
          <p:nvPr/>
        </p:nvSpPr>
        <p:spPr>
          <a:xfrm flipV="1">
            <a:off x="3095225" y="9315191"/>
            <a:ext cx="14687365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" name="AutoShape 16"/>
          <p:cNvSpPr/>
          <p:nvPr/>
        </p:nvSpPr>
        <p:spPr>
          <a:xfrm flipH="1" flipV="1">
            <a:off x="4197149" y="2040545"/>
            <a:ext cx="54055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AutoShape 17"/>
          <p:cNvSpPr/>
          <p:nvPr/>
        </p:nvSpPr>
        <p:spPr>
          <a:xfrm flipV="1">
            <a:off x="6684962" y="2040513"/>
            <a:ext cx="0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8" name="AutoShape 18"/>
          <p:cNvSpPr/>
          <p:nvPr/>
        </p:nvSpPr>
        <p:spPr>
          <a:xfrm flipV="1">
            <a:off x="9118720" y="2040513"/>
            <a:ext cx="0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 flipV="1">
            <a:off x="11552479" y="2040513"/>
            <a:ext cx="10855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 flipV="1">
            <a:off x="14012520" y="2040513"/>
            <a:ext cx="13293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H="1" flipV="1">
            <a:off x="5468083" y="2040513"/>
            <a:ext cx="0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 flipV="1">
            <a:off x="7901841" y="2040513"/>
            <a:ext cx="0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 flipV="1">
            <a:off x="10335599" y="2040513"/>
            <a:ext cx="0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H="1" flipV="1">
            <a:off x="12780213" y="2040513"/>
            <a:ext cx="15428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AutoShape 25"/>
          <p:cNvSpPr/>
          <p:nvPr/>
        </p:nvSpPr>
        <p:spPr>
          <a:xfrm flipH="1" flipV="1">
            <a:off x="15242692" y="2040513"/>
            <a:ext cx="104172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6" name="AutoShape 26"/>
          <p:cNvSpPr/>
          <p:nvPr/>
        </p:nvSpPr>
        <p:spPr>
          <a:xfrm flipH="1" flipV="1">
            <a:off x="16563743" y="1976211"/>
            <a:ext cx="34463" cy="8031121"/>
          </a:xfrm>
          <a:prstGeom prst="line">
            <a:avLst/>
          </a:prstGeom>
          <a:ln w="9525" cap="rnd">
            <a:solidFill>
              <a:srgbClr val="354A75">
                <a:alpha val="1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27" name="Group 27"/>
          <p:cNvGrpSpPr/>
          <p:nvPr/>
        </p:nvGrpSpPr>
        <p:grpSpPr>
          <a:xfrm>
            <a:off x="3137711" y="2624163"/>
            <a:ext cx="1059438" cy="329580"/>
            <a:chOff x="0" y="0"/>
            <a:chExt cx="276570" cy="8603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6570" cy="86038"/>
            </a:xfrm>
            <a:custGeom>
              <a:avLst/>
              <a:gdLst/>
              <a:ahLst/>
              <a:cxnLst/>
              <a:rect l="l" t="t" r="r" b="b"/>
              <a:pathLst>
                <a:path w="276570" h="86038">
                  <a:moveTo>
                    <a:pt x="43019" y="0"/>
                  </a:moveTo>
                  <a:lnTo>
                    <a:pt x="233551" y="0"/>
                  </a:lnTo>
                  <a:cubicBezTo>
                    <a:pt x="244960" y="0"/>
                    <a:pt x="255902" y="4532"/>
                    <a:pt x="263970" y="12600"/>
                  </a:cubicBezTo>
                  <a:cubicBezTo>
                    <a:pt x="272037" y="20668"/>
                    <a:pt x="276570" y="31610"/>
                    <a:pt x="276570" y="43019"/>
                  </a:cubicBezTo>
                  <a:lnTo>
                    <a:pt x="276570" y="43019"/>
                  </a:lnTo>
                  <a:cubicBezTo>
                    <a:pt x="276570" y="66778"/>
                    <a:pt x="257309" y="86038"/>
                    <a:pt x="233551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3399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76570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7711" y="3220137"/>
            <a:ext cx="1059438" cy="329580"/>
            <a:chOff x="0" y="0"/>
            <a:chExt cx="276570" cy="860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76570" cy="86038"/>
            </a:xfrm>
            <a:custGeom>
              <a:avLst/>
              <a:gdLst/>
              <a:ahLst/>
              <a:cxnLst/>
              <a:rect l="l" t="t" r="r" b="b"/>
              <a:pathLst>
                <a:path w="276570" h="86038">
                  <a:moveTo>
                    <a:pt x="43019" y="0"/>
                  </a:moveTo>
                  <a:lnTo>
                    <a:pt x="233551" y="0"/>
                  </a:lnTo>
                  <a:cubicBezTo>
                    <a:pt x="244960" y="0"/>
                    <a:pt x="255902" y="4532"/>
                    <a:pt x="263970" y="12600"/>
                  </a:cubicBezTo>
                  <a:cubicBezTo>
                    <a:pt x="272037" y="20668"/>
                    <a:pt x="276570" y="31610"/>
                    <a:pt x="276570" y="43019"/>
                  </a:cubicBezTo>
                  <a:lnTo>
                    <a:pt x="276570" y="43019"/>
                  </a:lnTo>
                  <a:cubicBezTo>
                    <a:pt x="276570" y="66778"/>
                    <a:pt x="257309" y="86038"/>
                    <a:pt x="233551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3399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276570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197149" y="3814514"/>
            <a:ext cx="1270934" cy="329580"/>
            <a:chOff x="0" y="0"/>
            <a:chExt cx="331781" cy="8603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1781" cy="86038"/>
            </a:xfrm>
            <a:custGeom>
              <a:avLst/>
              <a:gdLst/>
              <a:ahLst/>
              <a:cxnLst/>
              <a:rect l="l" t="t" r="r" b="b"/>
              <a:pathLst>
                <a:path w="331781" h="86038">
                  <a:moveTo>
                    <a:pt x="43019" y="0"/>
                  </a:moveTo>
                  <a:lnTo>
                    <a:pt x="288762" y="0"/>
                  </a:lnTo>
                  <a:cubicBezTo>
                    <a:pt x="312521" y="0"/>
                    <a:pt x="331781" y="19260"/>
                    <a:pt x="331781" y="43019"/>
                  </a:cubicBezTo>
                  <a:lnTo>
                    <a:pt x="331781" y="43019"/>
                  </a:lnTo>
                  <a:cubicBezTo>
                    <a:pt x="331781" y="54428"/>
                    <a:pt x="327249" y="65370"/>
                    <a:pt x="319181" y="73438"/>
                  </a:cubicBezTo>
                  <a:cubicBezTo>
                    <a:pt x="311114" y="81505"/>
                    <a:pt x="300172" y="86038"/>
                    <a:pt x="288762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3399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57150"/>
              <a:ext cx="331781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8083" y="4402135"/>
            <a:ext cx="2433758" cy="329580"/>
            <a:chOff x="0" y="0"/>
            <a:chExt cx="635340" cy="860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35340" cy="86038"/>
            </a:xfrm>
            <a:custGeom>
              <a:avLst/>
              <a:gdLst/>
              <a:ahLst/>
              <a:cxnLst/>
              <a:rect l="l" t="t" r="r" b="b"/>
              <a:pathLst>
                <a:path w="635340" h="86038">
                  <a:moveTo>
                    <a:pt x="43019" y="0"/>
                  </a:moveTo>
                  <a:lnTo>
                    <a:pt x="592321" y="0"/>
                  </a:lnTo>
                  <a:cubicBezTo>
                    <a:pt x="603731" y="0"/>
                    <a:pt x="614673" y="4532"/>
                    <a:pt x="622740" y="12600"/>
                  </a:cubicBezTo>
                  <a:cubicBezTo>
                    <a:pt x="630808" y="20668"/>
                    <a:pt x="635340" y="31610"/>
                    <a:pt x="635340" y="43019"/>
                  </a:cubicBezTo>
                  <a:lnTo>
                    <a:pt x="635340" y="43019"/>
                  </a:lnTo>
                  <a:cubicBezTo>
                    <a:pt x="635340" y="66778"/>
                    <a:pt x="616080" y="86038"/>
                    <a:pt x="592321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8ED97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635340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82520" y="5003270"/>
            <a:ext cx="2413855" cy="329580"/>
            <a:chOff x="0" y="0"/>
            <a:chExt cx="630144" cy="8603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30144" cy="86038"/>
            </a:xfrm>
            <a:custGeom>
              <a:avLst/>
              <a:gdLst/>
              <a:ahLst/>
              <a:cxnLst/>
              <a:rect l="l" t="t" r="r" b="b"/>
              <a:pathLst>
                <a:path w="630144" h="86038">
                  <a:moveTo>
                    <a:pt x="43019" y="0"/>
                  </a:moveTo>
                  <a:lnTo>
                    <a:pt x="587126" y="0"/>
                  </a:lnTo>
                  <a:cubicBezTo>
                    <a:pt x="610884" y="0"/>
                    <a:pt x="630144" y="19260"/>
                    <a:pt x="630144" y="43019"/>
                  </a:cubicBezTo>
                  <a:lnTo>
                    <a:pt x="630144" y="43019"/>
                  </a:lnTo>
                  <a:cubicBezTo>
                    <a:pt x="630144" y="54428"/>
                    <a:pt x="625612" y="65370"/>
                    <a:pt x="617545" y="73438"/>
                  </a:cubicBezTo>
                  <a:cubicBezTo>
                    <a:pt x="609477" y="81505"/>
                    <a:pt x="598535" y="86038"/>
                    <a:pt x="587126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8ED973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630144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59425" y="5597870"/>
            <a:ext cx="1178617" cy="329580"/>
            <a:chOff x="0" y="0"/>
            <a:chExt cx="307682" cy="8603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07682" cy="86038"/>
            </a:xfrm>
            <a:custGeom>
              <a:avLst/>
              <a:gdLst/>
              <a:ahLst/>
              <a:cxnLst/>
              <a:rect l="l" t="t" r="r" b="b"/>
              <a:pathLst>
                <a:path w="307682" h="86038">
                  <a:moveTo>
                    <a:pt x="43019" y="0"/>
                  </a:moveTo>
                  <a:lnTo>
                    <a:pt x="264663" y="0"/>
                  </a:lnTo>
                  <a:cubicBezTo>
                    <a:pt x="276072" y="0"/>
                    <a:pt x="287014" y="4532"/>
                    <a:pt x="295082" y="12600"/>
                  </a:cubicBezTo>
                  <a:cubicBezTo>
                    <a:pt x="303149" y="20668"/>
                    <a:pt x="307682" y="31610"/>
                    <a:pt x="307682" y="43019"/>
                  </a:cubicBezTo>
                  <a:lnTo>
                    <a:pt x="307682" y="43019"/>
                  </a:lnTo>
                  <a:cubicBezTo>
                    <a:pt x="307682" y="66778"/>
                    <a:pt x="288421" y="86038"/>
                    <a:pt x="264663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CC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307682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159425" y="6178956"/>
            <a:ext cx="2393054" cy="329580"/>
            <a:chOff x="0" y="0"/>
            <a:chExt cx="624714" cy="8603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24714" cy="86038"/>
            </a:xfrm>
            <a:custGeom>
              <a:avLst/>
              <a:gdLst/>
              <a:ahLst/>
              <a:cxnLst/>
              <a:rect l="l" t="t" r="r" b="b"/>
              <a:pathLst>
                <a:path w="624714" h="86038">
                  <a:moveTo>
                    <a:pt x="43019" y="0"/>
                  </a:moveTo>
                  <a:lnTo>
                    <a:pt x="581695" y="0"/>
                  </a:lnTo>
                  <a:cubicBezTo>
                    <a:pt x="593105" y="0"/>
                    <a:pt x="604047" y="4532"/>
                    <a:pt x="612114" y="12600"/>
                  </a:cubicBezTo>
                  <a:cubicBezTo>
                    <a:pt x="620182" y="20668"/>
                    <a:pt x="624714" y="31610"/>
                    <a:pt x="624714" y="43019"/>
                  </a:cubicBezTo>
                  <a:lnTo>
                    <a:pt x="624714" y="43019"/>
                  </a:lnTo>
                  <a:cubicBezTo>
                    <a:pt x="624714" y="66778"/>
                    <a:pt x="605454" y="86038"/>
                    <a:pt x="581695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CC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624714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343456" y="6746529"/>
            <a:ext cx="3669064" cy="329580"/>
            <a:chOff x="0" y="0"/>
            <a:chExt cx="957821" cy="8603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57821" cy="86038"/>
            </a:xfrm>
            <a:custGeom>
              <a:avLst/>
              <a:gdLst/>
              <a:ahLst/>
              <a:cxnLst/>
              <a:rect l="l" t="t" r="r" b="b"/>
              <a:pathLst>
                <a:path w="957821" h="86038">
                  <a:moveTo>
                    <a:pt x="43019" y="0"/>
                  </a:moveTo>
                  <a:lnTo>
                    <a:pt x="914802" y="0"/>
                  </a:lnTo>
                  <a:cubicBezTo>
                    <a:pt x="938560" y="0"/>
                    <a:pt x="957821" y="19260"/>
                    <a:pt x="957821" y="43019"/>
                  </a:cubicBezTo>
                  <a:lnTo>
                    <a:pt x="957821" y="43019"/>
                  </a:lnTo>
                  <a:cubicBezTo>
                    <a:pt x="957821" y="54428"/>
                    <a:pt x="953288" y="65370"/>
                    <a:pt x="945221" y="73438"/>
                  </a:cubicBezTo>
                  <a:cubicBezTo>
                    <a:pt x="937153" y="81505"/>
                    <a:pt x="926211" y="86038"/>
                    <a:pt x="914802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CC66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957821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025813" y="7356881"/>
            <a:ext cx="1273404" cy="329580"/>
            <a:chOff x="0" y="0"/>
            <a:chExt cx="332426" cy="8603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32426" cy="86038"/>
            </a:xfrm>
            <a:custGeom>
              <a:avLst/>
              <a:gdLst/>
              <a:ahLst/>
              <a:cxnLst/>
              <a:rect l="l" t="t" r="r" b="b"/>
              <a:pathLst>
                <a:path w="332426" h="86038">
                  <a:moveTo>
                    <a:pt x="43019" y="0"/>
                  </a:moveTo>
                  <a:lnTo>
                    <a:pt x="289407" y="0"/>
                  </a:lnTo>
                  <a:cubicBezTo>
                    <a:pt x="313166" y="0"/>
                    <a:pt x="332426" y="19260"/>
                    <a:pt x="332426" y="43019"/>
                  </a:cubicBezTo>
                  <a:lnTo>
                    <a:pt x="332426" y="43019"/>
                  </a:lnTo>
                  <a:cubicBezTo>
                    <a:pt x="332426" y="54428"/>
                    <a:pt x="327894" y="65370"/>
                    <a:pt x="319826" y="73438"/>
                  </a:cubicBezTo>
                  <a:cubicBezTo>
                    <a:pt x="311759" y="81505"/>
                    <a:pt x="300817" y="86038"/>
                    <a:pt x="289407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956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57150"/>
              <a:ext cx="332426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4291190" y="3863964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13 OCT - 24 OCT</a:t>
            </a:r>
          </a:p>
        </p:txBody>
      </p:sp>
      <p:sp>
        <p:nvSpPr>
          <p:cNvPr id="55" name="AutoShape 55"/>
          <p:cNvSpPr/>
          <p:nvPr/>
        </p:nvSpPr>
        <p:spPr>
          <a:xfrm flipV="1">
            <a:off x="3095247" y="9893927"/>
            <a:ext cx="14687365" cy="13514"/>
          </a:xfrm>
          <a:prstGeom prst="line">
            <a:avLst/>
          </a:prstGeom>
          <a:ln w="28575" cap="rnd">
            <a:solidFill>
              <a:srgbClr val="354A75">
                <a:alpha val="14902"/>
              </a:srgbClr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Box 56"/>
          <p:cNvSpPr txBox="1"/>
          <p:nvPr/>
        </p:nvSpPr>
        <p:spPr>
          <a:xfrm>
            <a:off x="3137711" y="1733328"/>
            <a:ext cx="4649689" cy="24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Bold"/>
                <a:ea typeface="Nourd Bold"/>
                <a:cs typeface="Nourd Bold"/>
                <a:sym typeface="Nourd Bold"/>
              </a:rPr>
              <a:t>OCTOBRE - - - - - - - - - - - - - - - - - - - - - - - - - - - - -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34716" y="1987475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03/11- 07/11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974212" y="1985125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01/12- 05/12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4025813" y="7950441"/>
            <a:ext cx="1273404" cy="329580"/>
            <a:chOff x="0" y="0"/>
            <a:chExt cx="332426" cy="8603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32426" cy="86038"/>
            </a:xfrm>
            <a:custGeom>
              <a:avLst/>
              <a:gdLst/>
              <a:ahLst/>
              <a:cxnLst/>
              <a:rect l="l" t="t" r="r" b="b"/>
              <a:pathLst>
                <a:path w="332426" h="86038">
                  <a:moveTo>
                    <a:pt x="43019" y="0"/>
                  </a:moveTo>
                  <a:lnTo>
                    <a:pt x="289407" y="0"/>
                  </a:lnTo>
                  <a:cubicBezTo>
                    <a:pt x="313166" y="0"/>
                    <a:pt x="332426" y="19260"/>
                    <a:pt x="332426" y="43019"/>
                  </a:cubicBezTo>
                  <a:lnTo>
                    <a:pt x="332426" y="43019"/>
                  </a:lnTo>
                  <a:cubicBezTo>
                    <a:pt x="332426" y="54428"/>
                    <a:pt x="327894" y="65370"/>
                    <a:pt x="319826" y="73438"/>
                  </a:cubicBezTo>
                  <a:cubicBezTo>
                    <a:pt x="311759" y="81505"/>
                    <a:pt x="300817" y="86038"/>
                    <a:pt x="289407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956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57150"/>
              <a:ext cx="332426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346864" y="8556245"/>
            <a:ext cx="1251342" cy="329580"/>
            <a:chOff x="0" y="0"/>
            <a:chExt cx="326667" cy="8603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26667" cy="86038"/>
            </a:xfrm>
            <a:custGeom>
              <a:avLst/>
              <a:gdLst/>
              <a:ahLst/>
              <a:cxnLst/>
              <a:rect l="l" t="t" r="r" b="b"/>
              <a:pathLst>
                <a:path w="326667" h="86038">
                  <a:moveTo>
                    <a:pt x="43019" y="0"/>
                  </a:moveTo>
                  <a:lnTo>
                    <a:pt x="283648" y="0"/>
                  </a:lnTo>
                  <a:cubicBezTo>
                    <a:pt x="307407" y="0"/>
                    <a:pt x="326667" y="19260"/>
                    <a:pt x="326667" y="43019"/>
                  </a:cubicBezTo>
                  <a:lnTo>
                    <a:pt x="326667" y="43019"/>
                  </a:lnTo>
                  <a:cubicBezTo>
                    <a:pt x="326667" y="54428"/>
                    <a:pt x="322134" y="65370"/>
                    <a:pt x="314067" y="73438"/>
                  </a:cubicBezTo>
                  <a:cubicBezTo>
                    <a:pt x="305999" y="81505"/>
                    <a:pt x="295057" y="86038"/>
                    <a:pt x="283648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956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57150"/>
              <a:ext cx="326667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346864" y="9150401"/>
            <a:ext cx="1251342" cy="329580"/>
            <a:chOff x="0" y="0"/>
            <a:chExt cx="326667" cy="8603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26667" cy="86038"/>
            </a:xfrm>
            <a:custGeom>
              <a:avLst/>
              <a:gdLst/>
              <a:ahLst/>
              <a:cxnLst/>
              <a:rect l="l" t="t" r="r" b="b"/>
              <a:pathLst>
                <a:path w="326667" h="86038">
                  <a:moveTo>
                    <a:pt x="43019" y="0"/>
                  </a:moveTo>
                  <a:lnTo>
                    <a:pt x="283648" y="0"/>
                  </a:lnTo>
                  <a:cubicBezTo>
                    <a:pt x="307407" y="0"/>
                    <a:pt x="326667" y="19260"/>
                    <a:pt x="326667" y="43019"/>
                  </a:cubicBezTo>
                  <a:lnTo>
                    <a:pt x="326667" y="43019"/>
                  </a:lnTo>
                  <a:cubicBezTo>
                    <a:pt x="326667" y="54428"/>
                    <a:pt x="322134" y="65370"/>
                    <a:pt x="314067" y="73438"/>
                  </a:cubicBezTo>
                  <a:cubicBezTo>
                    <a:pt x="305999" y="81505"/>
                    <a:pt x="295057" y="86038"/>
                    <a:pt x="283648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956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57150"/>
              <a:ext cx="326667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6624823" y="9677752"/>
            <a:ext cx="997581" cy="329580"/>
            <a:chOff x="0" y="0"/>
            <a:chExt cx="260422" cy="8603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60422" cy="86038"/>
            </a:xfrm>
            <a:custGeom>
              <a:avLst/>
              <a:gdLst/>
              <a:ahLst/>
              <a:cxnLst/>
              <a:rect l="l" t="t" r="r" b="b"/>
              <a:pathLst>
                <a:path w="260422" h="86038">
                  <a:moveTo>
                    <a:pt x="43019" y="0"/>
                  </a:moveTo>
                  <a:lnTo>
                    <a:pt x="217403" y="0"/>
                  </a:lnTo>
                  <a:cubicBezTo>
                    <a:pt x="241161" y="0"/>
                    <a:pt x="260422" y="19260"/>
                    <a:pt x="260422" y="43019"/>
                  </a:cubicBezTo>
                  <a:lnTo>
                    <a:pt x="260422" y="43019"/>
                  </a:lnTo>
                  <a:cubicBezTo>
                    <a:pt x="260422" y="54428"/>
                    <a:pt x="255889" y="65370"/>
                    <a:pt x="247822" y="73438"/>
                  </a:cubicBezTo>
                  <a:cubicBezTo>
                    <a:pt x="239754" y="81505"/>
                    <a:pt x="228812" y="86038"/>
                    <a:pt x="217403" y="86038"/>
                  </a:cubicBezTo>
                  <a:lnTo>
                    <a:pt x="43019" y="86038"/>
                  </a:lnTo>
                  <a:cubicBezTo>
                    <a:pt x="31610" y="86038"/>
                    <a:pt x="20668" y="81505"/>
                    <a:pt x="12600" y="73438"/>
                  </a:cubicBezTo>
                  <a:cubicBezTo>
                    <a:pt x="4532" y="65370"/>
                    <a:pt x="0" y="54428"/>
                    <a:pt x="0" y="43019"/>
                  </a:cubicBezTo>
                  <a:lnTo>
                    <a:pt x="0" y="43019"/>
                  </a:lnTo>
                  <a:cubicBezTo>
                    <a:pt x="0" y="31610"/>
                    <a:pt x="4532" y="20668"/>
                    <a:pt x="12600" y="12600"/>
                  </a:cubicBezTo>
                  <a:cubicBezTo>
                    <a:pt x="20668" y="4532"/>
                    <a:pt x="31610" y="0"/>
                    <a:pt x="43019" y="0"/>
                  </a:cubicBezTo>
                  <a:close/>
                </a:path>
              </a:pathLst>
            </a:custGeom>
            <a:solidFill>
              <a:srgbClr val="FF956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57150"/>
              <a:ext cx="260422" cy="143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2"/>
                </a:lnSpc>
              </a:pPr>
              <a:endParaRPr/>
            </a:p>
          </p:txBody>
        </p:sp>
      </p:grpSp>
      <p:sp>
        <p:nvSpPr>
          <p:cNvPr id="71" name="AutoShape 71"/>
          <p:cNvSpPr/>
          <p:nvPr/>
        </p:nvSpPr>
        <p:spPr>
          <a:xfrm flipH="1" flipV="1">
            <a:off x="8936885" y="1976191"/>
            <a:ext cx="0" cy="3356575"/>
          </a:xfrm>
          <a:prstGeom prst="line">
            <a:avLst/>
          </a:prstGeom>
          <a:ln w="38100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2" name="AutoShape 72"/>
          <p:cNvSpPr/>
          <p:nvPr/>
        </p:nvSpPr>
        <p:spPr>
          <a:xfrm flipV="1">
            <a:off x="13838628" y="1976191"/>
            <a:ext cx="0" cy="5099918"/>
          </a:xfrm>
          <a:prstGeom prst="line">
            <a:avLst/>
          </a:prstGeom>
          <a:ln w="38100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3" name="AutoShape 73"/>
          <p:cNvSpPr/>
          <p:nvPr/>
        </p:nvSpPr>
        <p:spPr>
          <a:xfrm flipV="1">
            <a:off x="17782670" y="1976191"/>
            <a:ext cx="0" cy="8031141"/>
          </a:xfrm>
          <a:prstGeom prst="line">
            <a:avLst/>
          </a:prstGeom>
          <a:ln w="38100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4" name="AutoShape 74"/>
          <p:cNvSpPr/>
          <p:nvPr/>
        </p:nvSpPr>
        <p:spPr>
          <a:xfrm flipV="1">
            <a:off x="5348979" y="1976191"/>
            <a:ext cx="0" cy="2167903"/>
          </a:xfrm>
          <a:prstGeom prst="line">
            <a:avLst/>
          </a:prstGeom>
          <a:ln w="38100" cap="rnd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5" name="Freeform 75"/>
          <p:cNvSpPr/>
          <p:nvPr/>
        </p:nvSpPr>
        <p:spPr>
          <a:xfrm rot="2564501">
            <a:off x="5258960" y="7158694"/>
            <a:ext cx="2216137" cy="2216137"/>
          </a:xfrm>
          <a:custGeom>
            <a:avLst/>
            <a:gdLst/>
            <a:ahLst/>
            <a:cxnLst/>
            <a:rect l="l" t="t" r="r" b="b"/>
            <a:pathLst>
              <a:path w="2216137" h="2216137">
                <a:moveTo>
                  <a:pt x="0" y="0"/>
                </a:moveTo>
                <a:lnTo>
                  <a:pt x="2216138" y="0"/>
                </a:lnTo>
                <a:lnTo>
                  <a:pt x="2216138" y="2216137"/>
                </a:lnTo>
                <a:lnTo>
                  <a:pt x="0" y="2216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6" name="TextBox 76"/>
          <p:cNvSpPr txBox="1"/>
          <p:nvPr/>
        </p:nvSpPr>
        <p:spPr>
          <a:xfrm>
            <a:off x="3241212" y="2671727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06 - 10 OCT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603279" y="4446057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20 OCT - 31 OCT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843870" y="5047192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27 OCT - 07 NOV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269590" y="5651471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10 NOV -14 NOV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322100" y="6232403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10 NOV - 21 NOV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485454" y="6803965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17 NOV - 05 DÉC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134585" y="7411189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08 DÉC - 12 DÉC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3095219" y="1983363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06/10 - 10/10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19729" y="2515508"/>
            <a:ext cx="23158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ANALYSE DÉMOGRAPHIQUE DES QUARTIERS CIBLES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19729" y="3107840"/>
            <a:ext cx="214682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ÉTUDE DE LA CONCURRENCE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319729" y="3837195"/>
            <a:ext cx="2146823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ANALYSE GÉOGRAPHIQUE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19729" y="4269790"/>
            <a:ext cx="22325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COLLECTE ET INTÉGRATION DONNÉES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19729" y="4894615"/>
            <a:ext cx="214682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PRÉPARATION + NETTOYAGE DONNÉES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22125" y="7866504"/>
            <a:ext cx="231587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VALIDATION MÉTHODO. + REVUE QUALITÉ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19729" y="5472059"/>
            <a:ext cx="214682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DÉFINITION INDICATEURS CLIENTS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322125" y="8443948"/>
            <a:ext cx="22325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ANALYSE  RISQUES ET LIMITES DE L’ÉTUDES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19729" y="6070302"/>
            <a:ext cx="22325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CONSTRUCTION SCÉNARIOS FLUX CLIENTS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319729" y="9055260"/>
            <a:ext cx="22325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RÉDACTION RAPPORT D’ANALYSE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19729" y="6647746"/>
            <a:ext cx="171235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288456"/>
                </a:solidFill>
                <a:latin typeface="Nourd Medium"/>
                <a:ea typeface="Nourd Medium"/>
                <a:cs typeface="Nourd Medium"/>
                <a:sym typeface="Nourd Medium"/>
              </a:rPr>
              <a:t>MODÉLISATION PRÉVISIONNELLE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319729" y="7254970"/>
            <a:ext cx="1712356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ELABORATION CARTE ZONES CANDIDATES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19729" y="9616840"/>
            <a:ext cx="22325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</a:pPr>
            <a:r>
              <a:rPr lang="en-US" sz="1200" b="1" spc="24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PRÉSENTATION RÉSULTATS ET RECOMMENDATIONS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541088" y="2103319"/>
            <a:ext cx="1011190" cy="27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79"/>
              </a:lnSpc>
            </a:pPr>
            <a:r>
              <a:rPr lang="en-US" sz="1399" b="1" spc="27">
                <a:solidFill>
                  <a:srgbClr val="354A75"/>
                </a:solidFill>
                <a:latin typeface="Nourd Bold"/>
                <a:ea typeface="Nourd Bold"/>
                <a:cs typeface="Nourd Bold"/>
                <a:sym typeface="Nourd Bold"/>
              </a:rPr>
              <a:t>SEMAINE :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367349" y="1989237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13/10 - 17/10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603279" y="1988650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20/10 - 24/10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6820158" y="1988062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27/10 - 31/10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9269590" y="1986888"/>
            <a:ext cx="943571" cy="24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10/11- 14/11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10504464" y="1986300"/>
            <a:ext cx="943571" cy="24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17/11- 21/11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739338" y="1985713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24/11- 28/11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4209086" y="1984538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08/12 - 12/12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5437351" y="1983950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15/12- 19/12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6698218" y="1989825"/>
            <a:ext cx="943571" cy="5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Medium"/>
                <a:ea typeface="Nourd Medium"/>
                <a:cs typeface="Nourd Medium"/>
                <a:sym typeface="Nourd Medium"/>
              </a:rPr>
              <a:t>22/12- 26/12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231385" y="1733328"/>
            <a:ext cx="4451523" cy="24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Bold"/>
                <a:ea typeface="Nourd Bold"/>
                <a:cs typeface="Nourd Bold"/>
                <a:sym typeface="Nourd Bold"/>
              </a:rPr>
              <a:t>NOVEMBRE- - - - - - - - - - - - - - - - - - - - - - - - - - - 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3171382" y="1733328"/>
            <a:ext cx="4451022" cy="242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</a:pPr>
            <a:r>
              <a:rPr lang="en-US" sz="1275" b="1" spc="63">
                <a:solidFill>
                  <a:srgbClr val="354A75"/>
                </a:solidFill>
                <a:latin typeface="Nourd Bold"/>
                <a:ea typeface="Nourd Bold"/>
                <a:cs typeface="Nourd Bold"/>
                <a:sym typeface="Nourd Bold"/>
              </a:rPr>
              <a:t>DÉCEMBRE - - - - - - - - - - - - - - - - - - - - - - - - - - -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4134585" y="8012336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08 DÉC - 12 DÉC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5455636" y="8600167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15 DÉC - 19 DÉC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5455636" y="9194323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15 DÉC - 19 DÉC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6733595" y="9740724"/>
            <a:ext cx="908194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22 - 24 DÉC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5159728" y="4123304"/>
            <a:ext cx="2543737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3131"/>
                </a:solidFill>
                <a:latin typeface="Nourd Bold"/>
                <a:ea typeface="Nourd Bold"/>
                <a:cs typeface="Nourd Bold"/>
                <a:sym typeface="Nourd Bold"/>
              </a:rPr>
              <a:t>Jalon 1 : Fin des analyses initiales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703522" y="5325573"/>
            <a:ext cx="1652430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3131"/>
                </a:solidFill>
                <a:latin typeface="Nourd Bold"/>
                <a:ea typeface="Nourd Bold"/>
                <a:cs typeface="Nourd Bold"/>
                <a:sym typeface="Nourd Bold"/>
              </a:rPr>
              <a:t>Jalon 2 : Données prêtes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3590263" y="7095159"/>
            <a:ext cx="1652430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3131"/>
                </a:solidFill>
                <a:latin typeface="Nourd Bold"/>
                <a:ea typeface="Nourd Bold"/>
                <a:cs typeface="Nourd Bold"/>
                <a:sym typeface="Nourd Bold"/>
              </a:rPr>
              <a:t>Jalon 3 : Modèle validé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413225" y="10035940"/>
            <a:ext cx="1954190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3131"/>
                </a:solidFill>
                <a:latin typeface="Nourd Bold"/>
                <a:ea typeface="Nourd Bold"/>
                <a:cs typeface="Nourd Bold"/>
                <a:sym typeface="Nourd Bold"/>
              </a:rPr>
              <a:t>Jalon 4 : Restitution finale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234569" y="3277593"/>
            <a:ext cx="1925159" cy="194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8"/>
              </a:lnSpc>
            </a:pPr>
            <a:r>
              <a:rPr lang="en-US" sz="993" b="1" spc="9">
                <a:solidFill>
                  <a:srgbClr val="FFFFFF"/>
                </a:solidFill>
                <a:latin typeface="Nourd Bold"/>
                <a:ea typeface="Nourd Bold"/>
                <a:cs typeface="Nourd Bold"/>
                <a:sym typeface="Nourd Bold"/>
              </a:rPr>
              <a:t>06 - 10 OCT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2228213" y="-1020233"/>
            <a:ext cx="3859445" cy="4097866"/>
          </a:xfrm>
          <a:custGeom>
            <a:avLst/>
            <a:gdLst/>
            <a:ahLst/>
            <a:cxnLst/>
            <a:rect l="l" t="t" r="r" b="b"/>
            <a:pathLst>
              <a:path w="3859445" h="4097866">
                <a:moveTo>
                  <a:pt x="0" y="0"/>
                </a:moveTo>
                <a:lnTo>
                  <a:pt x="3859444" y="0"/>
                </a:lnTo>
                <a:lnTo>
                  <a:pt x="3859444" y="4097866"/>
                </a:lnTo>
                <a:lnTo>
                  <a:pt x="0" y="409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33578" y="4344512"/>
            <a:ext cx="1819641" cy="1597976"/>
          </a:xfrm>
          <a:custGeom>
            <a:avLst/>
            <a:gdLst/>
            <a:ahLst/>
            <a:cxnLst/>
            <a:rect l="l" t="t" r="r" b="b"/>
            <a:pathLst>
              <a:path w="1819641" h="1597976">
                <a:moveTo>
                  <a:pt x="0" y="0"/>
                </a:moveTo>
                <a:lnTo>
                  <a:pt x="1819641" y="0"/>
                </a:lnTo>
                <a:lnTo>
                  <a:pt x="1819641" y="1597976"/>
                </a:lnTo>
                <a:lnTo>
                  <a:pt x="0" y="15979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795352" y="4856190"/>
            <a:ext cx="6356958" cy="5340958"/>
          </a:xfrm>
          <a:custGeom>
            <a:avLst/>
            <a:gdLst/>
            <a:ahLst/>
            <a:cxnLst/>
            <a:rect l="l" t="t" r="r" b="b"/>
            <a:pathLst>
              <a:path w="6356958" h="5340958">
                <a:moveTo>
                  <a:pt x="0" y="0"/>
                </a:moveTo>
                <a:lnTo>
                  <a:pt x="6356958" y="0"/>
                </a:lnTo>
                <a:lnTo>
                  <a:pt x="6356958" y="5340958"/>
                </a:lnTo>
                <a:lnTo>
                  <a:pt x="0" y="5340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902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127745" y="782652"/>
            <a:ext cx="8198345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OBJECTIF SPÉCIFIQUES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54588" y="3523167"/>
            <a:ext cx="10990011" cy="457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sz="2375" b="1" spc="11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S : ANALYSER DONNÉES DÉMOGRAPHIQUES ET CONCURRENTIELLES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54589" y="4153581"/>
            <a:ext cx="11904411" cy="457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45"/>
              </a:lnSpc>
              <a:spcBef>
                <a:spcPct val="0"/>
              </a:spcBef>
            </a:pPr>
            <a:r>
              <a:rPr lang="en-US" sz="2379" b="1" spc="11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M : FOURNIR CARTE + RAPPORT D’ANALYSE SUR AU MOINS 3 ZONES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54589" y="4783501"/>
            <a:ext cx="10532811" cy="98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sz="2375" b="1" spc="11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A : COLLECTER ET TRAITER DONNÉES DISPONIBLES EN 3 MOIS</a:t>
            </a:r>
          </a:p>
          <a:p>
            <a:pPr algn="l">
              <a:lnSpc>
                <a:spcPts val="4038"/>
              </a:lnSpc>
              <a:spcBef>
                <a:spcPct val="0"/>
              </a:spcBef>
            </a:pPr>
            <a:endParaRPr lang="en-US" sz="2375" b="1" spc="118" dirty="0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54589" y="5494538"/>
            <a:ext cx="11904411" cy="457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sz="2375" b="1" spc="11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R : S’APPUYER SUR DONNÉES ACCESSIBLES (INSEE, FLUX PIÉTONS, ETC.)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54589" y="6124753"/>
            <a:ext cx="7789611" cy="982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38"/>
              </a:lnSpc>
              <a:spcBef>
                <a:spcPct val="0"/>
              </a:spcBef>
            </a:pPr>
            <a:r>
              <a:rPr lang="en-US" sz="2375" b="1" spc="11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T : LIVRAISON DANS UN DÉLAI DE 3 MOIS</a:t>
            </a:r>
          </a:p>
          <a:p>
            <a:pPr algn="l">
              <a:lnSpc>
                <a:spcPts val="4038"/>
              </a:lnSpc>
              <a:spcBef>
                <a:spcPct val="0"/>
              </a:spcBef>
            </a:pPr>
            <a:endParaRPr lang="en-US" sz="2375" b="1" spc="118" dirty="0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825414">
            <a:off x="1679132" y="-1491825"/>
            <a:ext cx="4711897" cy="5002979"/>
          </a:xfrm>
          <a:custGeom>
            <a:avLst/>
            <a:gdLst/>
            <a:ahLst/>
            <a:cxnLst/>
            <a:rect l="l" t="t" r="r" b="b"/>
            <a:pathLst>
              <a:path w="4711897" h="5002979">
                <a:moveTo>
                  <a:pt x="0" y="0"/>
                </a:moveTo>
                <a:lnTo>
                  <a:pt x="4711897" y="0"/>
                </a:lnTo>
                <a:lnTo>
                  <a:pt x="4711897" y="5002979"/>
                </a:lnTo>
                <a:lnTo>
                  <a:pt x="0" y="500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3" name="Group 3"/>
          <p:cNvGrpSpPr/>
          <p:nvPr/>
        </p:nvGrpSpPr>
        <p:grpSpPr>
          <a:xfrm>
            <a:off x="1604107" y="2394011"/>
            <a:ext cx="6902273" cy="6594135"/>
            <a:chOff x="0" y="0"/>
            <a:chExt cx="1817883" cy="17367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7882" cy="1736727"/>
            </a:xfrm>
            <a:custGeom>
              <a:avLst/>
              <a:gdLst/>
              <a:ahLst/>
              <a:cxnLst/>
              <a:rect l="l" t="t" r="r" b="b"/>
              <a:pathLst>
                <a:path w="1817882" h="1736727">
                  <a:moveTo>
                    <a:pt x="0" y="0"/>
                  </a:moveTo>
                  <a:lnTo>
                    <a:pt x="1817882" y="0"/>
                  </a:lnTo>
                  <a:lnTo>
                    <a:pt x="1817882" y="1736727"/>
                  </a:lnTo>
                  <a:lnTo>
                    <a:pt x="0" y="1736727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23825"/>
              <a:ext cx="1817883" cy="186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38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27745" y="782652"/>
            <a:ext cx="8198345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PÉRIMÈTRE DU PROJET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791802" y="2370308"/>
            <a:ext cx="6902273" cy="6594135"/>
            <a:chOff x="0" y="0"/>
            <a:chExt cx="1817883" cy="17367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7882" cy="1736727"/>
            </a:xfrm>
            <a:custGeom>
              <a:avLst/>
              <a:gdLst/>
              <a:ahLst/>
              <a:cxnLst/>
              <a:rect l="l" t="t" r="r" b="b"/>
              <a:pathLst>
                <a:path w="1817882" h="1736727">
                  <a:moveTo>
                    <a:pt x="0" y="0"/>
                  </a:moveTo>
                  <a:lnTo>
                    <a:pt x="1817882" y="0"/>
                  </a:lnTo>
                  <a:lnTo>
                    <a:pt x="1817882" y="1736727"/>
                  </a:lnTo>
                  <a:lnTo>
                    <a:pt x="0" y="1736727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23825"/>
              <a:ext cx="1817883" cy="18605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38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46266" y="2616576"/>
            <a:ext cx="1673534" cy="592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58"/>
              </a:lnSpc>
              <a:spcBef>
                <a:spcPct val="0"/>
              </a:spcBef>
            </a:pPr>
            <a:r>
              <a:rPr lang="en-US" sz="2975" b="1" spc="14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INCLUS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6974" y="2616576"/>
            <a:ext cx="1590026" cy="5921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58"/>
              </a:lnSpc>
              <a:spcBef>
                <a:spcPct val="0"/>
              </a:spcBef>
            </a:pPr>
            <a:r>
              <a:rPr lang="en-US" sz="2975" b="1" spc="148" dirty="0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EXCLUS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51221" y="3288466"/>
            <a:ext cx="6608044" cy="5969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ANALYSE DÉMOGRAPHIQUE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ÉTUDE GÉOGRAPHIQUE</a:t>
            </a:r>
          </a:p>
          <a:p>
            <a:pPr algn="l">
              <a:lnSpc>
                <a:spcPts val="3377"/>
              </a:lnSpc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(TRANSPORTS, COMMERCES ...)</a:t>
            </a:r>
          </a:p>
          <a:p>
            <a:pPr algn="l">
              <a:lnSpc>
                <a:spcPts val="3377"/>
              </a:lnSpc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PRÉVISION FLUX PIÉTONS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ANALYSE CONCURRENTIELLE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CARTE ET RAPPORT D’ANALYSE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GESTION DES RISQUES ET DE LA LOGISTIQUE 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323060" y="3577479"/>
            <a:ext cx="6702856" cy="425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ÉTUDE FINANCIÈRE DÉTAILLÉE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TRAVAUX </a:t>
            </a:r>
          </a:p>
          <a:p>
            <a:pPr algn="l">
              <a:lnSpc>
                <a:spcPts val="3377"/>
              </a:lnSpc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RECRUTEMENT DU PERSONNEL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STRATÉGIE MARKETING ET COMMUNICATION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  <a:p>
            <a:pPr marL="428965" lvl="1" indent="-214483" algn="l">
              <a:lnSpc>
                <a:spcPts val="3377"/>
              </a:lnSpc>
              <a:spcBef>
                <a:spcPct val="0"/>
              </a:spcBef>
              <a:buFont typeface="Arial"/>
              <a:buChar char="•"/>
            </a:pPr>
            <a:r>
              <a:rPr lang="en-US" sz="1986" b="1" spc="99">
                <a:solidFill>
                  <a:srgbClr val="000000"/>
                </a:solidFill>
                <a:latin typeface="Nourd Medium"/>
                <a:ea typeface="Nourd Medium"/>
                <a:cs typeface="Nourd Medium"/>
                <a:sym typeface="Nourd Medium"/>
              </a:rPr>
              <a:t>CHOIX FINAL D’IMPLANTATION </a:t>
            </a:r>
          </a:p>
          <a:p>
            <a:pPr algn="l">
              <a:lnSpc>
                <a:spcPts val="3377"/>
              </a:lnSpc>
              <a:spcBef>
                <a:spcPct val="0"/>
              </a:spcBef>
            </a:pPr>
            <a:endParaRPr lang="en-US" sz="1986" b="1" spc="99">
              <a:solidFill>
                <a:srgbClr val="000000"/>
              </a:solidFill>
              <a:latin typeface="Nourd Medium"/>
              <a:ea typeface="Nourd Medium"/>
              <a:cs typeface="Nourd Medium"/>
              <a:sym typeface="Nou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41405" y="2918871"/>
          <a:ext cx="7988628" cy="6358480"/>
        </p:xfrm>
        <a:graphic>
          <a:graphicData uri="http://schemas.openxmlformats.org/drawingml/2006/table">
            <a:tbl>
              <a:tblPr/>
              <a:tblGrid>
                <a:gridCol w="399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1696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Dépenses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F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Montant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F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1696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Salaires + charges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23 261 €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1696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Données &amp; licences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1 700 €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1696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Autres dépenses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1 300 €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1696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Total hors marge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26 261 €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798931" y="2918871"/>
          <a:ext cx="7988628" cy="5092500"/>
        </p:xfrm>
        <a:graphic>
          <a:graphicData uri="http://schemas.openxmlformats.org/drawingml/2006/table">
            <a:tbl>
              <a:tblPr/>
              <a:tblGrid>
                <a:gridCol w="399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73125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Operations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F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Montant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F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3125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Total hors marge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26 271 €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3125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Marge brute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15 000 €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3125"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 b="1">
                          <a:solidFill>
                            <a:srgbClr val="000000"/>
                          </a:solidFill>
                          <a:latin typeface="Nourd Semi-Bold"/>
                          <a:ea typeface="Nourd Semi-Bold"/>
                          <a:cs typeface="Nourd Semi-Bold"/>
                          <a:sym typeface="Nourd Semi-Bold"/>
                        </a:rPr>
                        <a:t>Total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09"/>
                        </a:lnSpc>
                        <a:defRPr/>
                      </a:pPr>
                      <a:r>
                        <a:rPr lang="en-US" sz="2292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42 271 €</a:t>
                      </a:r>
                      <a:endParaRPr lang="en-US" sz="1100"/>
                    </a:p>
                  </a:txBody>
                  <a:tcPr marL="174674" marR="174674" marT="174674" marB="174674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 rot="2700000">
            <a:off x="5779707" y="7153224"/>
            <a:ext cx="2770511" cy="2827052"/>
          </a:xfrm>
          <a:custGeom>
            <a:avLst/>
            <a:gdLst/>
            <a:ahLst/>
            <a:cxnLst/>
            <a:rect l="l" t="t" r="r" b="b"/>
            <a:pathLst>
              <a:path w="2770511" h="2827052">
                <a:moveTo>
                  <a:pt x="0" y="0"/>
                </a:moveTo>
                <a:lnTo>
                  <a:pt x="2770511" y="0"/>
                </a:lnTo>
                <a:lnTo>
                  <a:pt x="2770511" y="2827052"/>
                </a:lnTo>
                <a:lnTo>
                  <a:pt x="0" y="282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 rot="2700000">
            <a:off x="14423267" y="5865737"/>
            <a:ext cx="2770511" cy="2827052"/>
          </a:xfrm>
          <a:custGeom>
            <a:avLst/>
            <a:gdLst/>
            <a:ahLst/>
            <a:cxnLst/>
            <a:rect l="l" t="t" r="r" b="b"/>
            <a:pathLst>
              <a:path w="2770511" h="2827052">
                <a:moveTo>
                  <a:pt x="0" y="0"/>
                </a:moveTo>
                <a:lnTo>
                  <a:pt x="2770510" y="0"/>
                </a:lnTo>
                <a:lnTo>
                  <a:pt x="2770510" y="2827052"/>
                </a:lnTo>
                <a:lnTo>
                  <a:pt x="0" y="282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028700" y="533400"/>
            <a:ext cx="9851853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 u="non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Budget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62917" y="2677632"/>
            <a:ext cx="7162166" cy="6266895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9C570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330200"/>
              <a:ext cx="558800" cy="330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9144000" y="2677632"/>
            <a:ext cx="0" cy="37244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/>
          <p:nvPr/>
        </p:nvSpPr>
        <p:spPr>
          <a:xfrm>
            <a:off x="9144000" y="6402115"/>
            <a:ext cx="3568215" cy="25389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7" name="AutoShape 7"/>
          <p:cNvSpPr/>
          <p:nvPr/>
        </p:nvSpPr>
        <p:spPr>
          <a:xfrm flipV="1">
            <a:off x="5573952" y="6388664"/>
            <a:ext cx="3569692" cy="25368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8" name="Group 8"/>
          <p:cNvGrpSpPr/>
          <p:nvPr/>
        </p:nvGrpSpPr>
        <p:grpSpPr>
          <a:xfrm>
            <a:off x="8938199" y="6310049"/>
            <a:ext cx="387891" cy="38789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38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2825414">
            <a:off x="2182294" y="-1039268"/>
            <a:ext cx="3859445" cy="4097866"/>
          </a:xfrm>
          <a:custGeom>
            <a:avLst/>
            <a:gdLst/>
            <a:ahLst/>
            <a:cxnLst/>
            <a:rect l="l" t="t" r="r" b="b"/>
            <a:pathLst>
              <a:path w="3859445" h="4097866">
                <a:moveTo>
                  <a:pt x="0" y="0"/>
                </a:moveTo>
                <a:lnTo>
                  <a:pt x="3859445" y="0"/>
                </a:lnTo>
                <a:lnTo>
                  <a:pt x="3859445" y="4097866"/>
                </a:lnTo>
                <a:lnTo>
                  <a:pt x="0" y="409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14652321" y="706452"/>
            <a:ext cx="2344570" cy="2344570"/>
          </a:xfrm>
          <a:custGeom>
            <a:avLst/>
            <a:gdLst/>
            <a:ahLst/>
            <a:cxnLst/>
            <a:rect l="l" t="t" r="r" b="b"/>
            <a:pathLst>
              <a:path w="2344570" h="2344570">
                <a:moveTo>
                  <a:pt x="0" y="0"/>
                </a:moveTo>
                <a:lnTo>
                  <a:pt x="2344570" y="0"/>
                </a:lnTo>
                <a:lnTo>
                  <a:pt x="2344570" y="2344570"/>
                </a:lnTo>
                <a:lnTo>
                  <a:pt x="0" y="234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127745" y="782652"/>
            <a:ext cx="8198345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ATTENTES DU PROJET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67271" y="1690207"/>
            <a:ext cx="2195927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COÛTS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07100" y="8728075"/>
            <a:ext cx="2183785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DÉLAIS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97115" y="8728075"/>
            <a:ext cx="2946485" cy="530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QUALITÉ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7186" y="2373296"/>
            <a:ext cx="16932924" cy="408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1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Objectif : livrer une carte et un rapport fiables, clairs et utilisables.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2399" spc="11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1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Contrôle à chaque étape : Collecte → Préparation → Modèle → Scénarios → Livrables.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2399" spc="11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1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Règle simple : on ne passe à l’étape suivante que si les vérifications sont OK.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2399" spc="11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marL="518158" lvl="1" indent="-259079" algn="l">
              <a:lnSpc>
                <a:spcPts val="40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pc="11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Dans le Gantt : une “Revue de la qualité” est planifiée juste avant la livraison finale (relecture et validation).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2399" spc="11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67099" y="6714537"/>
            <a:ext cx="17153801" cy="3001915"/>
          </a:xfrm>
          <a:custGeom>
            <a:avLst/>
            <a:gdLst/>
            <a:ahLst/>
            <a:cxnLst/>
            <a:rect l="l" t="t" r="r" b="b"/>
            <a:pathLst>
              <a:path w="17153801" h="3001915">
                <a:moveTo>
                  <a:pt x="0" y="0"/>
                </a:moveTo>
                <a:lnTo>
                  <a:pt x="17153802" y="0"/>
                </a:lnTo>
                <a:lnTo>
                  <a:pt x="17153802" y="3001915"/>
                </a:lnTo>
                <a:lnTo>
                  <a:pt x="0" y="3001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127745" y="782652"/>
            <a:ext cx="14838683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RESPECT DE LA QUALITÉ — CONTRÔLES À CHAQUE ÉTAPE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57620" y="7471622"/>
            <a:ext cx="2664492" cy="2664492"/>
          </a:xfrm>
          <a:custGeom>
            <a:avLst/>
            <a:gdLst/>
            <a:ahLst/>
            <a:cxnLst/>
            <a:rect l="l" t="t" r="r" b="b"/>
            <a:pathLst>
              <a:path w="2664492" h="2664492">
                <a:moveTo>
                  <a:pt x="0" y="0"/>
                </a:moveTo>
                <a:lnTo>
                  <a:pt x="2664492" y="0"/>
                </a:lnTo>
                <a:lnTo>
                  <a:pt x="2664492" y="2664492"/>
                </a:lnTo>
                <a:lnTo>
                  <a:pt x="0" y="2664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4334353" y="7716641"/>
            <a:ext cx="2174453" cy="2174453"/>
          </a:xfrm>
          <a:custGeom>
            <a:avLst/>
            <a:gdLst/>
            <a:ahLst/>
            <a:cxnLst/>
            <a:rect l="l" t="t" r="r" b="b"/>
            <a:pathLst>
              <a:path w="2174453" h="2174453">
                <a:moveTo>
                  <a:pt x="0" y="0"/>
                </a:moveTo>
                <a:lnTo>
                  <a:pt x="2174453" y="0"/>
                </a:lnTo>
                <a:lnTo>
                  <a:pt x="2174453" y="2174453"/>
                </a:lnTo>
                <a:lnTo>
                  <a:pt x="0" y="2174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127745" y="782652"/>
            <a:ext cx="10762121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DES DONNÉES RÉCENTES, PROPRES, FIABLES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7745" y="2889005"/>
            <a:ext cx="15275814" cy="460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Récence : données à jour (ex. INSEE N ou N-1, flux piétons semaine N-1).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Sources fiables : INSEE, OpenData de la mairie, observations terrain datées.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Exemples par étape 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→ Collecte : on rejette un fichier trop ancien.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→ Préparation : on uniformise les types/Unités et on valide les coordonnées.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 → Intégration : on journalise la source, la date et la version du fichier.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997003"/>
            <a:ext cx="18288000" cy="1371600"/>
          </a:xfrm>
          <a:prstGeom prst="rect">
            <a:avLst/>
          </a:prstGeom>
          <a:solidFill>
            <a:srgbClr val="F9BF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1116607" y="5604450"/>
            <a:ext cx="4316252" cy="2693626"/>
          </a:xfrm>
          <a:custGeom>
            <a:avLst/>
            <a:gdLst/>
            <a:ahLst/>
            <a:cxnLst/>
            <a:rect l="l" t="t" r="r" b="b"/>
            <a:pathLst>
              <a:path w="4316252" h="2693626">
                <a:moveTo>
                  <a:pt x="0" y="0"/>
                </a:moveTo>
                <a:lnTo>
                  <a:pt x="4316252" y="0"/>
                </a:lnTo>
                <a:lnTo>
                  <a:pt x="4316252" y="2693626"/>
                </a:lnTo>
                <a:lnTo>
                  <a:pt x="0" y="269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2" b="-6217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1127745" y="782652"/>
            <a:ext cx="13262200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MODÈLE &amp; LIVRABLES : TESTS + REVUE FINALE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4210" y="2512378"/>
            <a:ext cx="17223790" cy="53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Pendant la mise au point du modèle 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comparer les prévisions à des données récentes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Dernière semaine consacrée au modèle 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On contrôle la reproductibilité : si on relance les calculs, on obtient les mêmes chiffres.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On confirme la stabilité des résultats.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Étape finale :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   Bien faire la revue qualité : Go / No Go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8997003"/>
            <a:ext cx="18288000" cy="1371600"/>
          </a:xfrm>
          <a:prstGeom prst="rect">
            <a:avLst/>
          </a:prstGeom>
          <a:solidFill>
            <a:srgbClr val="F9BF90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254683" y="4230361"/>
            <a:ext cx="721203" cy="1173556"/>
          </a:xfrm>
          <a:custGeom>
            <a:avLst/>
            <a:gdLst/>
            <a:ahLst/>
            <a:cxnLst/>
            <a:rect l="l" t="t" r="r" b="b"/>
            <a:pathLst>
              <a:path w="721203" h="1173556">
                <a:moveTo>
                  <a:pt x="0" y="0"/>
                </a:moveTo>
                <a:lnTo>
                  <a:pt x="721204" y="0"/>
                </a:lnTo>
                <a:lnTo>
                  <a:pt x="721204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TextBox 4"/>
          <p:cNvSpPr txBox="1"/>
          <p:nvPr/>
        </p:nvSpPr>
        <p:spPr>
          <a:xfrm>
            <a:off x="2560115" y="6247510"/>
            <a:ext cx="5907946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R3 : Va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riation saisonnière modérée</a:t>
            </a:r>
          </a:p>
        </p:txBody>
      </p:sp>
      <p:sp>
        <p:nvSpPr>
          <p:cNvPr id="5" name="Freeform 5"/>
          <p:cNvSpPr/>
          <p:nvPr/>
        </p:nvSpPr>
        <p:spPr>
          <a:xfrm>
            <a:off x="9963241" y="4230361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9" y="0"/>
                </a:lnTo>
                <a:lnTo>
                  <a:pt x="838559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1351354" y="3948141"/>
            <a:ext cx="5907946" cy="167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R5 : Panne majeure du système de 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caisse pendant une journée importante</a:t>
            </a:r>
          </a:p>
        </p:txBody>
      </p:sp>
      <p:sp>
        <p:nvSpPr>
          <p:cNvPr id="7" name="Freeform 7"/>
          <p:cNvSpPr/>
          <p:nvPr/>
        </p:nvSpPr>
        <p:spPr>
          <a:xfrm>
            <a:off x="9963241" y="6278885"/>
            <a:ext cx="886568" cy="1113270"/>
          </a:xfrm>
          <a:custGeom>
            <a:avLst/>
            <a:gdLst/>
            <a:ahLst/>
            <a:cxnLst/>
            <a:rect l="l" t="t" r="r" b="b"/>
            <a:pathLst>
              <a:path w="886568" h="1113270">
                <a:moveTo>
                  <a:pt x="0" y="0"/>
                </a:moveTo>
                <a:lnTo>
                  <a:pt x="886568" y="0"/>
                </a:lnTo>
                <a:lnTo>
                  <a:pt x="886568" y="1113271"/>
                </a:lnTo>
                <a:lnTo>
                  <a:pt x="0" y="11132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1351354" y="6247510"/>
            <a:ext cx="5907946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R6 : Risque d’in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cendie dans la zone de stockage des produits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51354" y="2149778"/>
            <a:ext cx="5907946" cy="167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R4 : Coût supplémentai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 inattendu pour l’installation d’un équipement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" y="6401448"/>
            <a:ext cx="1173170" cy="868146"/>
          </a:xfrm>
          <a:custGeom>
            <a:avLst/>
            <a:gdLst/>
            <a:ahLst/>
            <a:cxnLst/>
            <a:rect l="l" t="t" r="r" b="b"/>
            <a:pathLst>
              <a:path w="1173170" h="868146">
                <a:moveTo>
                  <a:pt x="0" y="0"/>
                </a:moveTo>
                <a:lnTo>
                  <a:pt x="1173170" y="0"/>
                </a:lnTo>
                <a:lnTo>
                  <a:pt x="1173170" y="868145"/>
                </a:lnTo>
                <a:lnTo>
                  <a:pt x="0" y="8681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 rot="2825414">
            <a:off x="3086685" y="-1039268"/>
            <a:ext cx="3859445" cy="4097866"/>
          </a:xfrm>
          <a:custGeom>
            <a:avLst/>
            <a:gdLst/>
            <a:ahLst/>
            <a:cxnLst/>
            <a:rect l="l" t="t" r="r" b="b"/>
            <a:pathLst>
              <a:path w="3859445" h="4097866">
                <a:moveTo>
                  <a:pt x="0" y="0"/>
                </a:moveTo>
                <a:lnTo>
                  <a:pt x="3859444" y="0"/>
                </a:lnTo>
                <a:lnTo>
                  <a:pt x="3859444" y="4097866"/>
                </a:lnTo>
                <a:lnTo>
                  <a:pt x="0" y="4097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127745" y="782652"/>
            <a:ext cx="8198345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IDENTIFICATION DES RISQUES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63241" y="2191650"/>
            <a:ext cx="721203" cy="1173556"/>
          </a:xfrm>
          <a:custGeom>
            <a:avLst/>
            <a:gdLst/>
            <a:ahLst/>
            <a:cxnLst/>
            <a:rect l="l" t="t" r="r" b="b"/>
            <a:pathLst>
              <a:path w="721203" h="1173556">
                <a:moveTo>
                  <a:pt x="0" y="0"/>
                </a:moveTo>
                <a:lnTo>
                  <a:pt x="721203" y="0"/>
                </a:lnTo>
                <a:lnTo>
                  <a:pt x="721203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2560115" y="2711753"/>
            <a:ext cx="5907946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R1 : Données limitées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96006" y="2431998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8" y="0"/>
                </a:lnTo>
                <a:lnTo>
                  <a:pt x="838558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2560115" y="3948141"/>
            <a:ext cx="5907946" cy="167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R2 : Reta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rd mineur dans la livraison d’une matière première spécifique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F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1860864"/>
          <a:ext cx="16221075" cy="7397435"/>
        </p:xfrm>
        <a:graphic>
          <a:graphicData uri="http://schemas.openxmlformats.org/drawingml/2006/table">
            <a:tbl>
              <a:tblPr/>
              <a:tblGrid>
                <a:gridCol w="347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97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08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9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51762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Catastrophique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R6 : 10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R5 : 20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3776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Majeure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7637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Très grave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R3 : 9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3665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Significative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R4 : 4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R2 : 8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1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4114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Mineure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R1 : 1 pts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marL="582930" lvl="1" indent="-291465" algn="l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D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6481"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Incroyable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Peu probable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Occasionelle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Probable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Presque </a:t>
                      </a:r>
                      <a:r>
                        <a:rPr lang="en-US" sz="2700" dirty="0" err="1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certaine</a:t>
                      </a:r>
                      <a:r>
                        <a:rPr lang="en-US" sz="2700" dirty="0">
                          <a:solidFill>
                            <a:srgbClr val="000000"/>
                          </a:solidFill>
                          <a:latin typeface="Nourd"/>
                          <a:ea typeface="Nourd"/>
                          <a:cs typeface="Nourd"/>
                          <a:sym typeface="Nourd"/>
                        </a:rPr>
                        <a:t>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127745" y="782652"/>
            <a:ext cx="6468668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MATRICE DES RISQUES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3729" y="5028451"/>
            <a:ext cx="721203" cy="1173556"/>
          </a:xfrm>
          <a:custGeom>
            <a:avLst/>
            <a:gdLst/>
            <a:ahLst/>
            <a:cxnLst/>
            <a:rect l="l" t="t" r="r" b="b"/>
            <a:pathLst>
              <a:path w="721203" h="1173556">
                <a:moveTo>
                  <a:pt x="0" y="0"/>
                </a:moveTo>
                <a:lnTo>
                  <a:pt x="721203" y="0"/>
                </a:lnTo>
                <a:lnTo>
                  <a:pt x="721203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659160" y="7061697"/>
            <a:ext cx="5907946" cy="279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R3 : ajuster les stocks en fonction des prévisions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88456"/>
                </a:solidFill>
                <a:latin typeface="Nourd"/>
                <a:ea typeface="Nourd"/>
                <a:cs typeface="Nourd"/>
                <a:sym typeface="Nourd"/>
              </a:rPr>
              <a:t>-&gt; Comparer statistiquement les prévisions et le réel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Data Scientist</a:t>
            </a:r>
          </a:p>
        </p:txBody>
      </p:sp>
      <p:sp>
        <p:nvSpPr>
          <p:cNvPr id="4" name="Freeform 4"/>
          <p:cNvSpPr/>
          <p:nvPr/>
        </p:nvSpPr>
        <p:spPr>
          <a:xfrm>
            <a:off x="10062286" y="5028451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9" y="0"/>
                </a:lnTo>
                <a:lnTo>
                  <a:pt x="838559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1450400" y="4465244"/>
            <a:ext cx="5907946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R5 : 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caisse de secours, équipe IT rapide</a:t>
            </a:r>
          </a:p>
          <a:p>
            <a:pPr algn="l">
              <a:lnSpc>
                <a:spcPts val="4479"/>
              </a:lnSpc>
            </a:pPr>
            <a:r>
              <a:rPr lang="en-US" sz="3199" u="none">
                <a:solidFill>
                  <a:srgbClr val="288456"/>
                </a:solidFill>
                <a:latin typeface="Nourd"/>
                <a:ea typeface="Nourd"/>
                <a:cs typeface="Nourd"/>
                <a:sym typeface="Nourd"/>
              </a:rPr>
              <a:t>-&gt; tps d’arrêt moyen des caisses</a:t>
            </a:r>
          </a:p>
          <a:p>
            <a:pPr algn="l">
              <a:lnSpc>
                <a:spcPts val="4479"/>
              </a:lnSpc>
            </a:pPr>
            <a:r>
              <a:rPr lang="en-US" sz="3199" u="none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IT presta externe</a:t>
            </a:r>
          </a:p>
        </p:txBody>
      </p:sp>
      <p:sp>
        <p:nvSpPr>
          <p:cNvPr id="6" name="Freeform 6"/>
          <p:cNvSpPr/>
          <p:nvPr/>
        </p:nvSpPr>
        <p:spPr>
          <a:xfrm>
            <a:off x="10062286" y="7936035"/>
            <a:ext cx="886568" cy="1113270"/>
          </a:xfrm>
          <a:custGeom>
            <a:avLst/>
            <a:gdLst/>
            <a:ahLst/>
            <a:cxnLst/>
            <a:rect l="l" t="t" r="r" b="b"/>
            <a:pathLst>
              <a:path w="886568" h="1113270">
                <a:moveTo>
                  <a:pt x="0" y="0"/>
                </a:moveTo>
                <a:lnTo>
                  <a:pt x="886568" y="0"/>
                </a:lnTo>
                <a:lnTo>
                  <a:pt x="886568" y="1113270"/>
                </a:lnTo>
                <a:lnTo>
                  <a:pt x="0" y="11132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11450400" y="7342685"/>
            <a:ext cx="5907946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R6 : Prévoir</a:t>
            </a:r>
            <a:r>
              <a:rPr lang="en-US" sz="3199" u="non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des mesures de sécurité </a:t>
            </a:r>
          </a:p>
          <a:p>
            <a:pPr algn="l">
              <a:lnSpc>
                <a:spcPts val="4479"/>
              </a:lnSpc>
            </a:pPr>
            <a:r>
              <a:rPr lang="en-US" sz="3199" u="none">
                <a:solidFill>
                  <a:srgbClr val="288456"/>
                </a:solidFill>
                <a:latin typeface="Nourd"/>
                <a:ea typeface="Nourd"/>
                <a:cs typeface="Nourd"/>
                <a:sym typeface="Nourd"/>
              </a:rPr>
              <a:t>→ compter le nb d’incendies</a:t>
            </a:r>
          </a:p>
          <a:p>
            <a:pPr algn="l">
              <a:lnSpc>
                <a:spcPts val="4479"/>
              </a:lnSpc>
            </a:pPr>
            <a:r>
              <a:rPr lang="en-US" sz="3199" u="none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Risk manager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51354" y="1868790"/>
            <a:ext cx="5907946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R4 : Prévoir un budget tampon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88456"/>
                </a:solidFill>
                <a:latin typeface="Nourd"/>
                <a:ea typeface="Nourd"/>
                <a:cs typeface="Nourd"/>
                <a:sym typeface="Nourd"/>
              </a:rPr>
              <a:t>-&gt; observer le % de dépassement de budget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Data Scientist</a:t>
            </a:r>
          </a:p>
        </p:txBody>
      </p:sp>
      <p:sp>
        <p:nvSpPr>
          <p:cNvPr id="9" name="Freeform 9"/>
          <p:cNvSpPr/>
          <p:nvPr/>
        </p:nvSpPr>
        <p:spPr>
          <a:xfrm>
            <a:off x="1127745" y="8058597"/>
            <a:ext cx="1173170" cy="868146"/>
          </a:xfrm>
          <a:custGeom>
            <a:avLst/>
            <a:gdLst/>
            <a:ahLst/>
            <a:cxnLst/>
            <a:rect l="l" t="t" r="r" b="b"/>
            <a:pathLst>
              <a:path w="1173170" h="868146">
                <a:moveTo>
                  <a:pt x="0" y="0"/>
                </a:moveTo>
                <a:lnTo>
                  <a:pt x="1173170" y="0"/>
                </a:lnTo>
                <a:lnTo>
                  <a:pt x="1173170" y="868146"/>
                </a:lnTo>
                <a:lnTo>
                  <a:pt x="0" y="868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 rot="-99352">
            <a:off x="5093751" y="467039"/>
            <a:ext cx="4685965" cy="878619"/>
          </a:xfrm>
          <a:custGeom>
            <a:avLst/>
            <a:gdLst/>
            <a:ahLst/>
            <a:cxnLst/>
            <a:rect l="l" t="t" r="r" b="b"/>
            <a:pathLst>
              <a:path w="4685965" h="878619">
                <a:moveTo>
                  <a:pt x="0" y="0"/>
                </a:moveTo>
                <a:lnTo>
                  <a:pt x="4685966" y="0"/>
                </a:lnTo>
                <a:lnTo>
                  <a:pt x="4685966" y="878618"/>
                </a:lnTo>
                <a:lnTo>
                  <a:pt x="0" y="878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 rot="-99352">
            <a:off x="915451" y="555939"/>
            <a:ext cx="4685965" cy="878619"/>
          </a:xfrm>
          <a:custGeom>
            <a:avLst/>
            <a:gdLst/>
            <a:ahLst/>
            <a:cxnLst/>
            <a:rect l="l" t="t" r="r" b="b"/>
            <a:pathLst>
              <a:path w="4685965" h="878619">
                <a:moveTo>
                  <a:pt x="0" y="0"/>
                </a:moveTo>
                <a:lnTo>
                  <a:pt x="4685966" y="0"/>
                </a:lnTo>
                <a:lnTo>
                  <a:pt x="4685966" y="878618"/>
                </a:lnTo>
                <a:lnTo>
                  <a:pt x="0" y="8786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TextBox 12"/>
          <p:cNvSpPr txBox="1"/>
          <p:nvPr/>
        </p:nvSpPr>
        <p:spPr>
          <a:xfrm>
            <a:off x="1127745" y="782652"/>
            <a:ext cx="9422087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PLAN DE RÉDUCTION DES RISQUES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63241" y="2191650"/>
            <a:ext cx="721203" cy="1173556"/>
          </a:xfrm>
          <a:custGeom>
            <a:avLst/>
            <a:gdLst/>
            <a:ahLst/>
            <a:cxnLst/>
            <a:rect l="l" t="t" r="r" b="b"/>
            <a:pathLst>
              <a:path w="721203" h="1173556">
                <a:moveTo>
                  <a:pt x="0" y="0"/>
                </a:moveTo>
                <a:lnTo>
                  <a:pt x="721203" y="0"/>
                </a:lnTo>
                <a:lnTo>
                  <a:pt x="721203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2560115" y="1587803"/>
            <a:ext cx="5907946" cy="279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R1 : Données publiques, locales, sondages, ...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339966"/>
                </a:solidFill>
                <a:latin typeface="Nourd"/>
                <a:ea typeface="Nourd"/>
                <a:cs typeface="Nourd"/>
                <a:sym typeface="Nourd"/>
              </a:rPr>
              <a:t>-&gt; % d’augmentation du volume de donnée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Data analyst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96006" y="2431998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8" y="0"/>
                </a:lnTo>
                <a:lnTo>
                  <a:pt x="838558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2659160" y="4465244"/>
            <a:ext cx="5907946" cy="2233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R2 : avoir un stock tampon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288456"/>
                </a:solidFill>
                <a:latin typeface="Nourd"/>
                <a:ea typeface="Nourd"/>
                <a:cs typeface="Nourd"/>
                <a:sym typeface="Nourd"/>
              </a:rPr>
              <a:t>→ TDB des suivis de stocks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3131"/>
                </a:solidFill>
                <a:latin typeface="Nourd"/>
                <a:ea typeface="Nourd"/>
                <a:cs typeface="Nourd"/>
                <a:sym typeface="Nourd"/>
              </a:rPr>
              <a:t>Service Data et Consultant Logistique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50303" y="4939220"/>
            <a:ext cx="721203" cy="1173556"/>
          </a:xfrm>
          <a:custGeom>
            <a:avLst/>
            <a:gdLst/>
            <a:ahLst/>
            <a:cxnLst/>
            <a:rect l="l" t="t" r="r" b="b"/>
            <a:pathLst>
              <a:path w="721203" h="1173556">
                <a:moveTo>
                  <a:pt x="0" y="0"/>
                </a:moveTo>
                <a:lnTo>
                  <a:pt x="721204" y="0"/>
                </a:lnTo>
                <a:lnTo>
                  <a:pt x="721204" y="1173556"/>
                </a:lnTo>
                <a:lnTo>
                  <a:pt x="0" y="1173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6955734" y="7815429"/>
            <a:ext cx="5907946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Responsable de risque : Risk Manager</a:t>
            </a:r>
          </a:p>
        </p:txBody>
      </p:sp>
      <p:sp>
        <p:nvSpPr>
          <p:cNvPr id="4" name="Freeform 4"/>
          <p:cNvSpPr/>
          <p:nvPr/>
        </p:nvSpPr>
        <p:spPr>
          <a:xfrm>
            <a:off x="5424320" y="7969366"/>
            <a:ext cx="1173170" cy="868146"/>
          </a:xfrm>
          <a:custGeom>
            <a:avLst/>
            <a:gdLst/>
            <a:ahLst/>
            <a:cxnLst/>
            <a:rect l="l" t="t" r="r" b="b"/>
            <a:pathLst>
              <a:path w="1173170" h="868146">
                <a:moveTo>
                  <a:pt x="0" y="0"/>
                </a:moveTo>
                <a:lnTo>
                  <a:pt x="1173170" y="0"/>
                </a:lnTo>
                <a:lnTo>
                  <a:pt x="1173170" y="868146"/>
                </a:lnTo>
                <a:lnTo>
                  <a:pt x="0" y="86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 rot="2825414">
            <a:off x="3086685" y="-1039268"/>
            <a:ext cx="3859445" cy="4097866"/>
          </a:xfrm>
          <a:custGeom>
            <a:avLst/>
            <a:gdLst/>
            <a:ahLst/>
            <a:cxnLst/>
            <a:rect l="l" t="t" r="r" b="b"/>
            <a:pathLst>
              <a:path w="3859445" h="4097866">
                <a:moveTo>
                  <a:pt x="0" y="0"/>
                </a:moveTo>
                <a:lnTo>
                  <a:pt x="3859444" y="0"/>
                </a:lnTo>
                <a:lnTo>
                  <a:pt x="3859444" y="4097866"/>
                </a:lnTo>
                <a:lnTo>
                  <a:pt x="0" y="4097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1127745" y="782652"/>
            <a:ext cx="9422087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SUIVI DU RISQUE GLOBAL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1195" y="2406977"/>
            <a:ext cx="5907946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Réunion hebdomadaire : Risk Review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5492580" y="2342767"/>
            <a:ext cx="838559" cy="1173556"/>
          </a:xfrm>
          <a:custGeom>
            <a:avLst/>
            <a:gdLst/>
            <a:ahLst/>
            <a:cxnLst/>
            <a:rect l="l" t="t" r="r" b="b"/>
            <a:pathLst>
              <a:path w="838559" h="1173556">
                <a:moveTo>
                  <a:pt x="0" y="0"/>
                </a:moveTo>
                <a:lnTo>
                  <a:pt x="838559" y="0"/>
                </a:lnTo>
                <a:lnTo>
                  <a:pt x="838559" y="1173555"/>
                </a:lnTo>
                <a:lnTo>
                  <a:pt x="0" y="11735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6955734" y="4937988"/>
            <a:ext cx="5907946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Tableau de Bord Mis à jour en temps réel : Risk Register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71239" y="6230088"/>
            <a:ext cx="732455" cy="732452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88346" y="3299312"/>
            <a:ext cx="710485" cy="710482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" name="Freeform 6"/>
          <p:cNvSpPr/>
          <p:nvPr/>
        </p:nvSpPr>
        <p:spPr>
          <a:xfrm rot="-99352">
            <a:off x="687955" y="1058118"/>
            <a:ext cx="5127461" cy="961399"/>
          </a:xfrm>
          <a:custGeom>
            <a:avLst/>
            <a:gdLst/>
            <a:ahLst/>
            <a:cxnLst/>
            <a:rect l="l" t="t" r="r" b="b"/>
            <a:pathLst>
              <a:path w="5127461" h="961399">
                <a:moveTo>
                  <a:pt x="0" y="0"/>
                </a:moveTo>
                <a:lnTo>
                  <a:pt x="5127461" y="0"/>
                </a:lnTo>
                <a:lnTo>
                  <a:pt x="5127461" y="961399"/>
                </a:lnTo>
                <a:lnTo>
                  <a:pt x="0" y="961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4864888" y="3299312"/>
            <a:ext cx="3327227" cy="1737790"/>
            <a:chOff x="0" y="0"/>
            <a:chExt cx="4436302" cy="2317053"/>
          </a:xfrm>
        </p:grpSpPr>
        <p:grpSp>
          <p:nvGrpSpPr>
            <p:cNvPr id="8" name="Group 8"/>
            <p:cNvGrpSpPr/>
            <p:nvPr/>
          </p:nvGrpSpPr>
          <p:grpSpPr>
            <a:xfrm>
              <a:off x="1911382" y="0"/>
              <a:ext cx="873406" cy="873402"/>
              <a:chOff x="0" y="0"/>
              <a:chExt cx="6350000" cy="63499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16094" b="-1609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889083"/>
              <a:ext cx="4436302" cy="14279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26"/>
                </a:lnSpc>
              </a:pPr>
              <a:r>
                <a:rPr lang="en-US" sz="1482" b="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Quentin CHABOT</a:t>
              </a:r>
            </a:p>
            <a:p>
              <a:pPr algn="ctr">
                <a:lnSpc>
                  <a:spcPts val="1926"/>
                </a:lnSpc>
              </a:pPr>
              <a:r>
                <a:rPr lang="en-US" sz="1482" b="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Chargé d’études de marché</a:t>
              </a:r>
            </a:p>
            <a:p>
              <a:pPr marL="0" lvl="0" indent="0" algn="just">
                <a:lnSpc>
                  <a:spcPts val="1582"/>
                </a:lnSpc>
              </a:pPr>
              <a:r>
                <a:rPr lang="en-US" sz="1217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Chargé de l’analyse démographique des quartiers cibles et d’étudier la concurrence (boulangers, commerces)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5135" y="4168207"/>
            <a:ext cx="3787656" cy="2653645"/>
            <a:chOff x="0" y="0"/>
            <a:chExt cx="5050208" cy="3538193"/>
          </a:xfrm>
        </p:grpSpPr>
        <p:grpSp>
          <p:nvGrpSpPr>
            <p:cNvPr id="12" name="Group 12"/>
            <p:cNvGrpSpPr/>
            <p:nvPr/>
          </p:nvGrpSpPr>
          <p:grpSpPr>
            <a:xfrm rot="-10800000">
              <a:off x="1947755" y="0"/>
              <a:ext cx="1007001" cy="1006997"/>
              <a:chOff x="0" y="0"/>
              <a:chExt cx="6350000" cy="6349975"/>
            </a:xfrm>
          </p:grpSpPr>
          <p:sp>
            <p:nvSpPr>
              <p:cNvPr id="13" name="Freeform 13"/>
              <p:cNvSpPr/>
              <p:nvPr/>
            </p:nvSpPr>
            <p:spPr>
              <a:xfrm rot="-10800000">
                <a:off x="0" y="0"/>
                <a:ext cx="6350000" cy="6349975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5">
                    <a:moveTo>
                      <a:pt x="0" y="3174949"/>
                    </a:moveTo>
                    <a:cubicBezTo>
                      <a:pt x="0" y="1421524"/>
                      <a:pt x="1421524" y="0"/>
                      <a:pt x="3175000" y="0"/>
                    </a:cubicBezTo>
                    <a:cubicBezTo>
                      <a:pt x="4928502" y="0"/>
                      <a:pt x="6350000" y="1421524"/>
                      <a:pt x="6350000" y="3174949"/>
                    </a:cubicBezTo>
                    <a:cubicBezTo>
                      <a:pt x="6350000" y="4928464"/>
                      <a:pt x="4928502" y="6349975"/>
                      <a:pt x="3175000" y="6349975"/>
                    </a:cubicBezTo>
                    <a:cubicBezTo>
                      <a:pt x="1421498" y="6349975"/>
                      <a:pt x="0" y="4928464"/>
                      <a:pt x="0" y="3174949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13" t="-13" r="-13" b="-13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0" y="997472"/>
              <a:ext cx="5050208" cy="2540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21"/>
                </a:lnSpc>
              </a:pPr>
              <a:r>
                <a:rPr lang="en-US" sz="1708" b="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Jules DUBUY</a:t>
              </a:r>
            </a:p>
            <a:p>
              <a:pPr algn="ctr">
                <a:lnSpc>
                  <a:spcPts val="2221"/>
                </a:lnSpc>
              </a:pPr>
              <a:r>
                <a:rPr lang="en-US" sz="1708" b="1">
                  <a:solidFill>
                    <a:srgbClr val="000000"/>
                  </a:solidFill>
                  <a:latin typeface="Nourd Bold"/>
                  <a:ea typeface="Nourd Bold"/>
                  <a:cs typeface="Nourd Bold"/>
                  <a:sym typeface="Nourd Bold"/>
                </a:rPr>
                <a:t>Chef de Projet</a:t>
              </a:r>
            </a:p>
            <a:p>
              <a:pPr algn="just">
                <a:lnSpc>
                  <a:spcPts val="1824"/>
                </a:lnSpc>
              </a:pPr>
              <a:r>
                <a:rPr lang="en-US" sz="1403">
                  <a:solidFill>
                    <a:srgbClr val="000000"/>
                  </a:solidFill>
                  <a:latin typeface="Nourd"/>
                  <a:ea typeface="Nourd"/>
                  <a:cs typeface="Nourd"/>
                  <a:sym typeface="Nourd"/>
                </a:rPr>
                <a:t>S’occupe de la validation méthodologique et revue qualité, de l’analyse des risques et limites de l’étude, de la rédaction du rapport d’analyse, ainsi que la présentation des résultats &amp; recommandations</a:t>
              </a:r>
            </a:p>
            <a:p>
              <a:pPr marL="0" lvl="0" indent="0" algn="just">
                <a:lnSpc>
                  <a:spcPts val="1824"/>
                </a:lnSpc>
              </a:pPr>
              <a:endParaRPr lang="en-US" sz="1403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044868" y="5732465"/>
            <a:ext cx="824168" cy="824165"/>
            <a:chOff x="0" y="0"/>
            <a:chExt cx="6350000" cy="634997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14038783" y="4072411"/>
            <a:ext cx="0" cy="2845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8" name="Group 18"/>
          <p:cNvGrpSpPr/>
          <p:nvPr/>
        </p:nvGrpSpPr>
        <p:grpSpPr>
          <a:xfrm>
            <a:off x="6142047" y="8153165"/>
            <a:ext cx="990839" cy="990835"/>
            <a:chOff x="0" y="0"/>
            <a:chExt cx="6350000" cy="63499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391102" y="2727550"/>
            <a:ext cx="1497829" cy="927003"/>
          </a:xfrm>
          <a:custGeom>
            <a:avLst/>
            <a:gdLst/>
            <a:ahLst/>
            <a:cxnLst/>
            <a:rect l="l" t="t" r="r" b="b"/>
            <a:pathLst>
              <a:path w="1497829" h="927003">
                <a:moveTo>
                  <a:pt x="0" y="0"/>
                </a:moveTo>
                <a:lnTo>
                  <a:pt x="1497829" y="0"/>
                </a:lnTo>
                <a:lnTo>
                  <a:pt x="1497829" y="927003"/>
                </a:lnTo>
                <a:lnTo>
                  <a:pt x="0" y="927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1456185" y="910170"/>
            <a:ext cx="3591001" cy="1102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70"/>
              </a:lnSpc>
            </a:pPr>
            <a:r>
              <a:rPr lang="en-US" sz="6900" b="1" u="none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Équipes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68317" y="7037573"/>
            <a:ext cx="3720369" cy="11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4"/>
              </a:lnSpc>
            </a:pPr>
            <a:r>
              <a:rPr lang="en-US" sz="165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Remi PIERRON</a:t>
            </a:r>
          </a:p>
          <a:p>
            <a:pPr algn="ctr">
              <a:lnSpc>
                <a:spcPts val="2154"/>
              </a:lnSpc>
            </a:pPr>
            <a:r>
              <a:rPr lang="en-US" sz="165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Data Scientist</a:t>
            </a:r>
          </a:p>
          <a:p>
            <a:pPr algn="just">
              <a:lnSpc>
                <a:spcPts val="1769"/>
              </a:lnSpc>
            </a:pPr>
            <a:r>
              <a:rPr lang="en-US" sz="1361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Construction des scénarios de flux clients</a:t>
            </a:r>
          </a:p>
          <a:p>
            <a:pPr marL="0" lvl="0" indent="0" algn="just">
              <a:lnSpc>
                <a:spcPts val="1769"/>
              </a:lnSpc>
            </a:pPr>
            <a:r>
              <a:rPr lang="en-US" sz="1361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Modélisation prévisionnelle (méthodes statistiques / ML)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94221" y="4022991"/>
            <a:ext cx="3713778" cy="135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9"/>
              </a:lnSpc>
            </a:pPr>
            <a:r>
              <a:rPr lang="en-US" sz="160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Elliot FEROUX</a:t>
            </a:r>
          </a:p>
          <a:p>
            <a:pPr algn="ctr">
              <a:lnSpc>
                <a:spcPts val="2089"/>
              </a:lnSpc>
            </a:pPr>
            <a:r>
              <a:rPr lang="en-US" sz="160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Data Analyst</a:t>
            </a:r>
          </a:p>
          <a:p>
            <a:pPr marL="0" lvl="0" indent="0" algn="just">
              <a:lnSpc>
                <a:spcPts val="1716"/>
              </a:lnSpc>
            </a:pPr>
            <a:r>
              <a:rPr lang="en-US" sz="132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En charge de la collecte &amp; intégration des données, de la préparation et du nettoyage des données ainsi que la définition des indicateurs de potentiel clientelle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94221" y="6642250"/>
            <a:ext cx="4325463" cy="153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0"/>
              </a:lnSpc>
            </a:pPr>
            <a:r>
              <a:rPr lang="en-US" sz="17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Lola DIXNEUF</a:t>
            </a:r>
          </a:p>
          <a:p>
            <a:pPr algn="ctr">
              <a:lnSpc>
                <a:spcPts val="2210"/>
              </a:lnSpc>
            </a:pPr>
            <a:r>
              <a:rPr lang="en-US" sz="17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Géomaticienne</a:t>
            </a:r>
          </a:p>
          <a:p>
            <a:pPr algn="just">
              <a:lnSpc>
                <a:spcPts val="1991"/>
              </a:lnSpc>
            </a:pPr>
            <a:r>
              <a:rPr lang="en-US" sz="1531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Chargée de l</a:t>
            </a:r>
            <a:r>
              <a:rPr lang="en-US" sz="1531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’</a:t>
            </a:r>
            <a:r>
              <a:rPr lang="en-US" sz="1531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Analyse géographique (transports, accessibilité, flux) et de l’élaboration d’une carte des zones candidates</a:t>
            </a:r>
          </a:p>
          <a:p>
            <a:pPr marL="0" lvl="0" indent="0" algn="l">
              <a:lnSpc>
                <a:spcPts val="1991"/>
              </a:lnSpc>
            </a:pPr>
            <a:endParaRPr lang="en-US" sz="1531">
              <a:solidFill>
                <a:srgbClr val="000000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89036" y="8982075"/>
            <a:ext cx="409686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Michel Patissier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Responsable gestion des risques (Risk Manager)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283128" y="3654553"/>
            <a:ext cx="3713778" cy="100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160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Prestataire Informatique</a:t>
            </a:r>
          </a:p>
          <a:p>
            <a:pPr marL="0" lvl="0" indent="0" algn="ctr">
              <a:lnSpc>
                <a:spcPts val="2090"/>
              </a:lnSpc>
            </a:pPr>
            <a:r>
              <a:rPr lang="en-US" sz="160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Chargé de gérer le système informatique de l’entreprise (mise en place des systèmes et entretien)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67383" y="6230088"/>
            <a:ext cx="3713778" cy="751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1607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Consultant Logistique</a:t>
            </a:r>
          </a:p>
          <a:p>
            <a:pPr marL="0" lvl="0" indent="0" algn="ctr">
              <a:lnSpc>
                <a:spcPts val="2090"/>
              </a:lnSpc>
            </a:pPr>
            <a:r>
              <a:rPr lang="en-US" sz="1607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Accompagne le Data Scientist dans la prévision de la gestion des stocks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644" y="573668"/>
            <a:ext cx="1623060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Taches: Matrice RACI</a:t>
            </a:r>
          </a:p>
        </p:txBody>
      </p:sp>
      <p:sp>
        <p:nvSpPr>
          <p:cNvPr id="3" name="Freeform 3"/>
          <p:cNvSpPr/>
          <p:nvPr/>
        </p:nvSpPr>
        <p:spPr>
          <a:xfrm rot="1612977">
            <a:off x="484104" y="268440"/>
            <a:ext cx="441071" cy="891872"/>
          </a:xfrm>
          <a:custGeom>
            <a:avLst/>
            <a:gdLst/>
            <a:ahLst/>
            <a:cxnLst/>
            <a:rect l="l" t="t" r="r" b="b"/>
            <a:pathLst>
              <a:path w="441071" h="891872">
                <a:moveTo>
                  <a:pt x="0" y="0"/>
                </a:moveTo>
                <a:lnTo>
                  <a:pt x="441071" y="0"/>
                </a:lnTo>
                <a:lnTo>
                  <a:pt x="441071" y="891872"/>
                </a:lnTo>
                <a:lnTo>
                  <a:pt x="0" y="89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aphicFrame>
        <p:nvGraphicFramePr>
          <p:cNvPr id="4" name="Object 4"/>
          <p:cNvGraphicFramePr/>
          <p:nvPr/>
        </p:nvGraphicFramePr>
        <p:xfrm>
          <a:off x="130324" y="3043173"/>
          <a:ext cx="16230600" cy="8181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469100" imgH="11430000" progId="Excel.Sheet.12">
                  <p:embed/>
                </p:oleObj>
              </mc:Choice>
              <mc:Fallback>
                <p:oleObj name="Worksheet" r:id="rId4" imgW="19469100" imgH="1143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0324" y="3043173"/>
                        <a:ext cx="16230600" cy="8181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/>
          <p:nvPr/>
        </p:nvGraphicFramePr>
        <p:xfrm>
          <a:off x="14972679" y="5011101"/>
          <a:ext cx="4586288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5486400" imgH="3429000" progId="Excel.Sheet.12">
                  <p:embed/>
                </p:oleObj>
              </mc:Choice>
              <mc:Fallback>
                <p:oleObj name="Worksheet" r:id="rId6" imgW="5486400" imgH="3429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972679" y="5011101"/>
                        <a:ext cx="4586288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67644" y="573668"/>
            <a:ext cx="1623060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50"/>
              </a:lnSpc>
            </a:pPr>
            <a:r>
              <a:rPr lang="en-US" sz="7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Communication &amp; Organisation</a:t>
            </a:r>
          </a:p>
        </p:txBody>
      </p:sp>
      <p:sp>
        <p:nvSpPr>
          <p:cNvPr id="3" name="Freeform 3"/>
          <p:cNvSpPr/>
          <p:nvPr/>
        </p:nvSpPr>
        <p:spPr>
          <a:xfrm rot="1612977">
            <a:off x="484104" y="268440"/>
            <a:ext cx="441071" cy="891872"/>
          </a:xfrm>
          <a:custGeom>
            <a:avLst/>
            <a:gdLst/>
            <a:ahLst/>
            <a:cxnLst/>
            <a:rect l="l" t="t" r="r" b="b"/>
            <a:pathLst>
              <a:path w="441071" h="891872">
                <a:moveTo>
                  <a:pt x="0" y="0"/>
                </a:moveTo>
                <a:lnTo>
                  <a:pt x="441071" y="0"/>
                </a:lnTo>
                <a:lnTo>
                  <a:pt x="441071" y="891872"/>
                </a:lnTo>
                <a:lnTo>
                  <a:pt x="0" y="8918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967644" y="2372351"/>
            <a:ext cx="4926487" cy="2771149"/>
          </a:xfrm>
          <a:custGeom>
            <a:avLst/>
            <a:gdLst/>
            <a:ahLst/>
            <a:cxnLst/>
            <a:rect l="l" t="t" r="r" b="b"/>
            <a:pathLst>
              <a:path w="4926487" h="2771149">
                <a:moveTo>
                  <a:pt x="0" y="0"/>
                </a:moveTo>
                <a:lnTo>
                  <a:pt x="4926487" y="0"/>
                </a:lnTo>
                <a:lnTo>
                  <a:pt x="4926487" y="2771149"/>
                </a:lnTo>
                <a:lnTo>
                  <a:pt x="0" y="2771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2055341" y="5596490"/>
            <a:ext cx="2873205" cy="2675672"/>
          </a:xfrm>
          <a:custGeom>
            <a:avLst/>
            <a:gdLst/>
            <a:ahLst/>
            <a:cxnLst/>
            <a:rect l="l" t="t" r="r" b="b"/>
            <a:pathLst>
              <a:path w="2873205" h="2675672">
                <a:moveTo>
                  <a:pt x="0" y="0"/>
                </a:moveTo>
                <a:lnTo>
                  <a:pt x="2873205" y="0"/>
                </a:lnTo>
                <a:lnTo>
                  <a:pt x="2873205" y="2675672"/>
                </a:lnTo>
                <a:lnTo>
                  <a:pt x="0" y="26756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Freeform 6"/>
          <p:cNvSpPr/>
          <p:nvPr/>
        </p:nvSpPr>
        <p:spPr>
          <a:xfrm>
            <a:off x="9212217" y="2466866"/>
            <a:ext cx="4123143" cy="2582118"/>
          </a:xfrm>
          <a:custGeom>
            <a:avLst/>
            <a:gdLst/>
            <a:ahLst/>
            <a:cxnLst/>
            <a:rect l="l" t="t" r="r" b="b"/>
            <a:pathLst>
              <a:path w="4123143" h="2582118">
                <a:moveTo>
                  <a:pt x="0" y="0"/>
                </a:moveTo>
                <a:lnTo>
                  <a:pt x="4123143" y="0"/>
                </a:lnTo>
                <a:lnTo>
                  <a:pt x="4123143" y="2582119"/>
                </a:lnTo>
                <a:lnTo>
                  <a:pt x="0" y="2582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7" name="TextBox 7"/>
          <p:cNvSpPr txBox="1"/>
          <p:nvPr/>
        </p:nvSpPr>
        <p:spPr>
          <a:xfrm>
            <a:off x="5430222" y="6636898"/>
            <a:ext cx="371377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Outlook</a:t>
            </a:r>
          </a:p>
          <a:p>
            <a:pPr marL="0" lvl="0" indent="0"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Mail et plannings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69166" y="3253101"/>
            <a:ext cx="371377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Teams</a:t>
            </a:r>
          </a:p>
          <a:p>
            <a:pPr marL="0" lvl="0" indent="0"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Réunions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5360" y="3120965"/>
            <a:ext cx="3713778" cy="1476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Jira</a:t>
            </a:r>
          </a:p>
          <a:p>
            <a:pPr marL="0" lvl="0" indent="0" algn="ctr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Organisation du projet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48351" y="6317016"/>
            <a:ext cx="5710949" cy="197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Organisation</a:t>
            </a:r>
          </a:p>
          <a:p>
            <a:pPr marL="0" lvl="0" indent="0" algn="just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Organisation simple au fil du projet avec des réunions régulières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BF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638" y="1685621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 rot="1010006">
            <a:off x="10982198" y="5527287"/>
            <a:ext cx="1441494" cy="1313070"/>
          </a:xfrm>
          <a:custGeom>
            <a:avLst/>
            <a:gdLst/>
            <a:ahLst/>
            <a:cxnLst/>
            <a:rect l="l" t="t" r="r" b="b"/>
            <a:pathLst>
              <a:path w="1441494" h="1313070">
                <a:moveTo>
                  <a:pt x="0" y="0"/>
                </a:moveTo>
                <a:lnTo>
                  <a:pt x="1441494" y="0"/>
                </a:lnTo>
                <a:lnTo>
                  <a:pt x="1441494" y="1313070"/>
                </a:lnTo>
                <a:lnTo>
                  <a:pt x="0" y="13130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 rot="-367495">
            <a:off x="9908623" y="5408395"/>
            <a:ext cx="1246863" cy="1689100"/>
          </a:xfrm>
          <a:custGeom>
            <a:avLst/>
            <a:gdLst/>
            <a:ahLst/>
            <a:cxnLst/>
            <a:rect l="l" t="t" r="r" b="b"/>
            <a:pathLst>
              <a:path w="1246863" h="1689100">
                <a:moveTo>
                  <a:pt x="0" y="0"/>
                </a:moveTo>
                <a:lnTo>
                  <a:pt x="1246863" y="0"/>
                </a:lnTo>
                <a:lnTo>
                  <a:pt x="1246863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10387274" y="7020947"/>
            <a:ext cx="1709529" cy="2565897"/>
          </a:xfrm>
          <a:custGeom>
            <a:avLst/>
            <a:gdLst/>
            <a:ahLst/>
            <a:cxnLst/>
            <a:rect l="l" t="t" r="r" b="b"/>
            <a:pathLst>
              <a:path w="1709529" h="2565897">
                <a:moveTo>
                  <a:pt x="0" y="0"/>
                </a:moveTo>
                <a:lnTo>
                  <a:pt x="1709528" y="0"/>
                </a:lnTo>
                <a:lnTo>
                  <a:pt x="1709528" y="2565896"/>
                </a:lnTo>
                <a:lnTo>
                  <a:pt x="0" y="25658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3416300" y="4137027"/>
            <a:ext cx="16230600" cy="120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50"/>
              </a:lnSpc>
            </a:pPr>
            <a:r>
              <a:rPr lang="en-US" sz="7500" b="1">
                <a:solidFill>
                  <a:srgbClr val="000000"/>
                </a:solidFill>
                <a:latin typeface="Nourd Bold"/>
                <a:ea typeface="Nourd Bold"/>
                <a:cs typeface="Nourd Bold"/>
                <a:sym typeface="Nourd Bold"/>
              </a:rPr>
              <a:t>Merci de votre attention 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50110" y="9649777"/>
            <a:ext cx="847080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1224</Words>
  <Application>Microsoft Macintosh PowerPoint</Application>
  <PresentationFormat>Personnalisé</PresentationFormat>
  <Paragraphs>263</Paragraphs>
  <Slides>19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Nourd Medium</vt:lpstr>
      <vt:lpstr>Calibri</vt:lpstr>
      <vt:lpstr>Nourd Bold</vt:lpstr>
      <vt:lpstr>Nourd</vt:lpstr>
      <vt:lpstr>Nourd Semi-Bold</vt:lpstr>
      <vt:lpstr>Arial</vt:lpstr>
      <vt:lpstr>Office Theme</vt:lpstr>
      <vt:lpstr>Worksheet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Ajoutez le nom de l'entreprise</dc:title>
  <cp:lastModifiedBy>Rémi PIERRON</cp:lastModifiedBy>
  <cp:revision>2</cp:revision>
  <dcterms:created xsi:type="dcterms:W3CDTF">2006-08-16T00:00:00Z</dcterms:created>
  <dcterms:modified xsi:type="dcterms:W3CDTF">2025-10-05T21:00:14Z</dcterms:modified>
  <dc:identifier>DAG0rJQnhWU</dc:identifier>
</cp:coreProperties>
</file>